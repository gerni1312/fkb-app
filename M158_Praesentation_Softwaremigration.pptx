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und herzlich willkommen zu unserer Präsentation im Rahmen des Moduls 158, Softwaremigration. Wir sind Aidan Hanson und Fynn Tschäppat aus der Klasse Inf2024d und stellen Ihnen heute unser LB2-Projekt vor: die Migration einer produktiven MariaDB-Datenbank zu PostgreSQL. Im Anschluss an die Präsentation zeigen wir Ihnen das Ergebnis in einer Live-Demonstration und stehen für Fachfragen zur Verfügung.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Präsentation gliedert sich in sechs Teile. Zuerst geben wir Ihnen einen Überblick über das Projekt und den Auftrag. Danach erklären wir den Projektablauf in den vier Phasen. Anschliessend gehen wir auf die technische Umsetzung ein, also die eingesetzten Systeme, die gewählte Migrationsstrategie und das Datenmapping. Danach zeigen wir die Ergebnisse im Vorher-Nachher-Vergleich, sprechen über aufgetretene Herausforderungen und schliessen mit unserer Reflexion sowie einer Live-Demonstration des migrierten Systems 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Ausgangspunkt des Projekts ist eine intern genutzte Webapplikation, deren Daten in einer MariaDB-Datenbank gespeichert sind. Da die Anforderungen an Stabilität, Skalierbarkeit und Erweiterbarkeit steigen, wurde geprüft, ob ein Wechsel auf PostgreSQL sinnvoll ist. Unter Softwaremigration versteht man die kontrollierte Überführung von Daten und Systemen von einer Plattform auf eine andere, wobei Funktionalität und Datenintegrität erhalten bleiben müssen. Der Projektauftrag bestand konkret darin, die Datenbankstruktur und alle Daten nach PostgreSQL zu überführen. Eine Neuentwicklung der Applikation oder grossen Änderungen an der Oberfläche gehörten explizit nicht zum Projektumfang.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Projekt wurde in vier Phasen ähnlich dem HERMES-Vorgehensmodell durchgeführt. In der Initialisierungsphase in Kalenderwoche 17 wurden Ausgangslage, Projektauftrag und Stakeholder definiert. In der Konzeptphase, von Kalenderwoche 18 bis 21, wurden die Migrationsstrategie und die Zielarchitektur festgelegt – dieser Meilenstein hiess 'Konzept erstellt'. In der Realisierungsphase, Kalenderwoche 22 bis 24, wurde die Testumgebung aufgebaut, die Testmigration erfolgreich durchgeführt und anschliessend die Produktivmigration abgeschlossen. Die Einführungsphase in Kalenderwoche 25 bis 27 umfasste die finale Dokumentation und den offiziellen Projektabschluss.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 technische Umsetzung haben wir folgende Systemlandschaft eingesetzt: Das Quellsystem ist eine MariaDB 10.6 mit 25 Tabellen, 8 Views, 12 Stored Procedures, 7 Triggern und einem Datenvolumen von rund 18 Gigabyte. Als Zielsystem dient PostgreSQL in Version 16, welches funktional dasselbe Datenmodell abbildet, aber zusätzlich moderne Features wie JSONB, Common Table Expressions und erweiterte Indexierungsfunktionen unterstützt. Die eigentliche Migration der Daten erfolgte mit dem Tool pgloader. Als Infrastruktur kam Docker mit Docker Compose zum Einsatz, die lokale Testumgebung wurde unter WSL2 aufgebaut, und für die Verwaltung der Datenbanken nutzten wir pgAdmin.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 Migration standen zwei Strategien zur Auswahl: die Big-Bang-Migration und der Parallelbetrieb. Beim Parallelbetrieb laufen beide Datenbanken eine Zeit lang gleichzeitig, was sicherer ist, aber deutlich mehr Aufwand und Ressourcen erfordert. Beim Big Bang wird das alte System direkt abgeschaltet und ersetzt, was schneller geht, aber ein höheres Risiko mit sich bringt. Wir haben uns für die Big-Bang-Strategie entschieden, da es sich um eine Proof-of-Concept-Migration in einer kontrollierten Umgebung handelt. Der Aufwand bleibt dadurch gering, ein Parallelbetrieb ist nicht nötig, und wir konnten nach der Migration die Daten umfassend validieren.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zentraler Bestandteil des Migrationskonzepts war das Datenmapping zwischen den Datentypen von MariaDB und PostgreSQL. Zum Beispiel wird INT zu INTEGER, AUTO_INCREMENT zu SERIAL, DATETIME zu TIMESTAMP, TINYINT(1) zu BOOLEAN, DECIMAL zu NUMERIC und BLOB zu BYTEA umgewandelt. Diese Konvertierungen erfolgten automatisiert während der Transformationsphase. Nach jeder Migration wurde die Datenübernahme validiert: Mit Count-Abfragen haben wir die Anzahl Datensätze je Tabelle verglichen, mit einem Duplicate-Check mögliche doppelte Einträge geprüft und mit einem Fremdschlüssel-Check die referenzielle Integrität zwischen den Tabellen sichergestellt.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direkten Vergleich zeigt sich der Mehrwert der Migration deutlich: Die Stabilität verbesserte sich von gut auf sehr gut, die Erweiterbarkeit von mittel auf sehr gut, und mit PostgreSQL stehen nun moderne Features wie JSONB, Common Table Expressions und erweiterte Indexierung zur Verfügung, die MariaDB in dieser Form nicht bietet. Am wichtigsten ist jedoch: Alle Daten wurden erfolgreich migriert und vollständig validiert. Sowohl die Integrationstests als auch die Systemtests und die Abnahmetests durch den Auftraggeber wurden erfolgreich bestanden, womit die Datenbank für den produktiven Einsatz freigegeben werden konnte.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Während der Realisierung sind wir auf zwei konkrete Herausforderungen gestossen. Erstens: Bei der Vorbereitung der Migration trat ein Verbindungsproblem auf – der PostgreSQL-Container lief zwar, aber der benötigte Port war nicht freigegeben, sodass pgloader keine Verbindung zur Zieldatenbank herstellen konnte. Nach der Analyse der Docker-Konfiguration haben wir das Port-Mapping angepasst, woraufhin die Verbindung erfolgreich funktionierte. Zweitens stellte sich heraus, dass das Docker-Image postgres:latest nicht mit unserer Umgebung kompatibel war. Wir haben deshalb auf die fixe Version postgres:16 gewechselt, was den Container stabil und reproduzierbar machte.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diesem Projekt nehmen wir wichtige Erkenntnisse mit. Wir haben unser Verständnis von Docker, insbesondere von Containern, Volumes und Netzwerken, deutlich vertieft. PostgreSQL haben wir im Vergleich zu MariaDB kennengelernt und praktische Erfahrung mit dem Migrationstool pgloader gesammelt. Unsere Fähigkeit zur Fehleranalyse hat sich durch die systematische Untersuchung von Verbindungs- und Portproblemen verbessert, und wir haben erkannt, wie wichtig Tests und Datenvalidierung für eine erfolgreiche Migration sind. Rückblickend würden wir einen früheren Parallelbetrieb zur Risikominimierung in Betracht ziehen und versuchen, mehr automatisierte statt manuelle Tests einzusetzen.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Anschluss an diesen theoretischen Teil zeigen wir Ihnen die Migration nun live anhand des betriebsbereiten Systems im Abgabezustand. Konkret zeigen wir Ihnen die Quelldatenbank in MariaDB mit den bestehenden Daten, anschliessend führen wir die Migration mit pgloader live aus, prüfen danach die migrierten Tabellen und Daten in der PostgreSQL-Zieldatenbank und stellen abschliessend die Daten aus beiden Systemen gegenüber. Die Demonstration dauert rund zehn Minuten.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sind wir am Ende unserer Präsentation. Wir bedanken uns herzlich für Ihre Aufmerksamkeit und stehen Ihnen nun gerne für Ihre Fachfragen zur Verfügung. Nochmals zur Erinnerung: Wir sind Aidan Hanson und Fynn Tschäppat aus der Klasse Inf2024d, und dies war unser LB2-Projekt im Modul 158 zum Thema Softwaremigration von MariaDB nach PostgreSQL.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Oval 1"/>
          <p:cNvSpPr/>
          <p:nvPr/>
        </p:nvSpPr>
        <p:spPr>
          <a:xfrm>
            <a:off x="8869680" y="-1463040"/>
            <a:ext cx="5029200" cy="5029200"/>
          </a:xfrm>
          <a:prstGeom prst="ellipse">
            <a:avLst/>
          </a:prstGeom>
          <a:solidFill>
            <a:srgbClr val="1C7293">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4206240"/>
            <a:ext cx="3291840" cy="3291840"/>
          </a:xfrm>
          <a:prstGeom prst="ellipse">
            <a:avLst/>
          </a:prstGeom>
          <a:solidFill>
            <a:srgbClr val="02C39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9144000" cy="365760"/>
          </a:xfrm>
          <a:prstGeom prst="rect">
            <a:avLst/>
          </a:prstGeom>
          <a:noFill/>
        </p:spPr>
        <p:txBody>
          <a:bodyPr wrap="square" anchor="t" lIns="0" rIns="0" tIns="0" bIns="0">
            <a:spAutoFit/>
          </a:bodyPr>
          <a:lstStyle/>
          <a:p>
            <a:pPr algn="l">
              <a:lnSpc>
                <a:spcPct val="100000"/>
              </a:lnSpc>
              <a:spcAft>
                <a:spcPts val="0"/>
              </a:spcAft>
            </a:pPr>
            <a:r>
              <a:rPr sz="1400" b="1" i="0">
                <a:solidFill>
                  <a:srgbClr val="02C39A"/>
                </a:solidFill>
                <a:latin typeface="Calibri"/>
              </a:rPr>
              <a:t>LERNDOKUMENTATION – MODUL 158  |  LB2</a:t>
            </a:r>
          </a:p>
        </p:txBody>
      </p:sp>
      <p:sp>
        <p:nvSpPr>
          <p:cNvPr id="5" name="TextBox 4"/>
          <p:cNvSpPr txBox="1"/>
          <p:nvPr/>
        </p:nvSpPr>
        <p:spPr>
          <a:xfrm>
            <a:off x="822960" y="1874519"/>
            <a:ext cx="10058400" cy="1737360"/>
          </a:xfrm>
          <a:prstGeom prst="rect">
            <a:avLst/>
          </a:prstGeom>
          <a:noFill/>
        </p:spPr>
        <p:txBody>
          <a:bodyPr wrap="square" anchor="t" lIns="0" rIns="0" tIns="0" bIns="0">
            <a:spAutoFit/>
          </a:bodyPr>
          <a:lstStyle/>
          <a:p>
            <a:pPr algn="l">
              <a:lnSpc>
                <a:spcPct val="105000"/>
              </a:lnSpc>
              <a:spcAft>
                <a:spcPts val="0"/>
              </a:spcAft>
            </a:pPr>
            <a:r>
              <a:rPr sz="4200" b="1" i="0">
                <a:solidFill>
                  <a:srgbClr val="FFFFFF"/>
                </a:solidFill>
                <a:latin typeface="Calibri"/>
              </a:rPr>
              <a:t>Migration von MariaDB</a:t>
            </a:r>
            <a:br/>
            <a:r>
              <a:rPr sz="4200" b="1" i="0">
                <a:solidFill>
                  <a:srgbClr val="FFFFFF"/>
                </a:solidFill>
                <a:latin typeface="Calibri"/>
              </a:rPr>
              <a:t>zu PostgreSQL</a:t>
            </a:r>
          </a:p>
        </p:txBody>
      </p:sp>
      <p:sp>
        <p:nvSpPr>
          <p:cNvPr id="6" name="TextBox 5"/>
          <p:cNvSpPr txBox="1"/>
          <p:nvPr/>
        </p:nvSpPr>
        <p:spPr>
          <a:xfrm>
            <a:off x="822960" y="3429000"/>
            <a:ext cx="8686800" cy="548640"/>
          </a:xfrm>
          <a:prstGeom prst="rect">
            <a:avLst/>
          </a:prstGeom>
          <a:noFill/>
        </p:spPr>
        <p:txBody>
          <a:bodyPr wrap="square" anchor="t" lIns="0" rIns="0" tIns="0" bIns="0">
            <a:spAutoFit/>
          </a:bodyPr>
          <a:lstStyle/>
          <a:p>
            <a:pPr algn="l">
              <a:lnSpc>
                <a:spcPct val="100000"/>
              </a:lnSpc>
              <a:spcAft>
                <a:spcPts val="0"/>
              </a:spcAft>
            </a:pPr>
            <a:r>
              <a:rPr sz="1900" b="0" i="1">
                <a:solidFill>
                  <a:srgbClr val="CADCFC"/>
                </a:solidFill>
                <a:latin typeface="Calibri"/>
              </a:rPr>
              <a:t>Softwaremigration einer produktiven Datenbank</a:t>
            </a:r>
          </a:p>
        </p:txBody>
      </p:sp>
      <p:sp>
        <p:nvSpPr>
          <p:cNvPr id="7" name="Rectangle 6"/>
          <p:cNvSpPr/>
          <p:nvPr/>
        </p:nvSpPr>
        <p:spPr>
          <a:xfrm>
            <a:off x="822960" y="4434840"/>
            <a:ext cx="5120640" cy="182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617720"/>
            <a:ext cx="54864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02C39A"/>
                </a:solidFill>
                <a:latin typeface="Calibri"/>
              </a:rPr>
              <a:t>TEAM</a:t>
            </a:r>
          </a:p>
        </p:txBody>
      </p:sp>
      <p:sp>
        <p:nvSpPr>
          <p:cNvPr id="9" name="TextBox 8"/>
          <p:cNvSpPr txBox="1"/>
          <p:nvPr/>
        </p:nvSpPr>
        <p:spPr>
          <a:xfrm>
            <a:off x="822960" y="4892040"/>
            <a:ext cx="6400800" cy="411480"/>
          </a:xfrm>
          <a:prstGeom prst="rect">
            <a:avLst/>
          </a:prstGeom>
          <a:noFill/>
        </p:spPr>
        <p:txBody>
          <a:bodyPr wrap="square" anchor="t" lIns="0" rIns="0" tIns="0" bIns="0">
            <a:spAutoFit/>
          </a:bodyPr>
          <a:lstStyle/>
          <a:p>
            <a:pPr algn="l">
              <a:lnSpc>
                <a:spcPct val="100000"/>
              </a:lnSpc>
              <a:spcAft>
                <a:spcPts val="0"/>
              </a:spcAft>
            </a:pPr>
            <a:r>
              <a:rPr sz="1800" b="1" i="0">
                <a:solidFill>
                  <a:srgbClr val="FFFFFF"/>
                </a:solidFill>
                <a:latin typeface="Calibri"/>
              </a:rPr>
              <a:t>Aidan Hanson  ·  Fynn Tschäppät</a:t>
            </a:r>
          </a:p>
        </p:txBody>
      </p:sp>
      <p:sp>
        <p:nvSpPr>
          <p:cNvPr id="10" name="TextBox 9"/>
          <p:cNvSpPr txBox="1"/>
          <p:nvPr/>
        </p:nvSpPr>
        <p:spPr>
          <a:xfrm>
            <a:off x="822960" y="5486400"/>
            <a:ext cx="54864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02C39A"/>
                </a:solidFill>
                <a:latin typeface="Calibri"/>
              </a:rPr>
              <a:t>MODUL / KLASSE</a:t>
            </a:r>
          </a:p>
        </p:txBody>
      </p:sp>
      <p:sp>
        <p:nvSpPr>
          <p:cNvPr id="11" name="TextBox 10"/>
          <p:cNvSpPr txBox="1"/>
          <p:nvPr/>
        </p:nvSpPr>
        <p:spPr>
          <a:xfrm>
            <a:off x="822960" y="5760720"/>
            <a:ext cx="6400800" cy="365760"/>
          </a:xfrm>
          <a:prstGeom prst="rect">
            <a:avLst/>
          </a:prstGeom>
          <a:noFill/>
        </p:spPr>
        <p:txBody>
          <a:bodyPr wrap="square" anchor="t" lIns="0" rIns="0" tIns="0" bIns="0">
            <a:spAutoFit/>
          </a:bodyPr>
          <a:lstStyle/>
          <a:p>
            <a:pPr algn="l">
              <a:lnSpc>
                <a:spcPct val="100000"/>
              </a:lnSpc>
              <a:spcAft>
                <a:spcPts val="0"/>
              </a:spcAft>
            </a:pPr>
            <a:r>
              <a:rPr sz="1500" b="0" i="0">
                <a:solidFill>
                  <a:srgbClr val="FFFFFF"/>
                </a:solidFill>
                <a:latin typeface="Calibri"/>
              </a:rPr>
              <a:t>Modul 158 – Inf2024d</a:t>
            </a:r>
          </a:p>
        </p:txBody>
      </p:sp>
      <p:sp>
        <p:nvSpPr>
          <p:cNvPr id="12" name="TextBox 11"/>
          <p:cNvSpPr txBox="1"/>
          <p:nvPr/>
        </p:nvSpPr>
        <p:spPr>
          <a:xfrm>
            <a:off x="5120640" y="5486400"/>
            <a:ext cx="54864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02C39A"/>
                </a:solidFill>
                <a:latin typeface="Calibri"/>
              </a:rPr>
              <a:t>DATUM</a:t>
            </a:r>
          </a:p>
        </p:txBody>
      </p:sp>
      <p:sp>
        <p:nvSpPr>
          <p:cNvPr id="13" name="TextBox 12"/>
          <p:cNvSpPr txBox="1"/>
          <p:nvPr/>
        </p:nvSpPr>
        <p:spPr>
          <a:xfrm>
            <a:off x="5120640" y="5760720"/>
            <a:ext cx="5486400" cy="365760"/>
          </a:xfrm>
          <a:prstGeom prst="rect">
            <a:avLst/>
          </a:prstGeom>
          <a:noFill/>
        </p:spPr>
        <p:txBody>
          <a:bodyPr wrap="square" anchor="t" lIns="0" rIns="0" tIns="0" bIns="0">
            <a:spAutoFit/>
          </a:bodyPr>
          <a:lstStyle/>
          <a:p>
            <a:pPr algn="l">
              <a:lnSpc>
                <a:spcPct val="100000"/>
              </a:lnSpc>
              <a:spcAft>
                <a:spcPts val="0"/>
              </a:spcAft>
            </a:pPr>
            <a:r>
              <a:rPr sz="1500" b="0" i="0">
                <a:solidFill>
                  <a:srgbClr val="FFFFFF"/>
                </a:solidFill>
                <a:latin typeface="Calibri"/>
              </a:rPr>
              <a:t>24. Juni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AGENDA</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Was wir Ihnen heute zeigen</a:t>
            </a:r>
          </a:p>
        </p:txBody>
      </p:sp>
      <p:sp>
        <p:nvSpPr>
          <p:cNvPr id="4" name="Rounded Rectangle 3"/>
          <p:cNvSpPr/>
          <p:nvPr/>
        </p:nvSpPr>
        <p:spPr>
          <a:xfrm>
            <a:off x="640080" y="1737360"/>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23543" y="216255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01</a:t>
            </a:r>
          </a:p>
        </p:txBody>
      </p:sp>
      <p:sp>
        <p:nvSpPr>
          <p:cNvPr id="6" name="TextBox 5"/>
          <p:cNvSpPr txBox="1"/>
          <p:nvPr/>
        </p:nvSpPr>
        <p:spPr>
          <a:xfrm>
            <a:off x="1645920" y="1938528"/>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Projektübersicht</a:t>
            </a:r>
          </a:p>
        </p:txBody>
      </p:sp>
      <p:sp>
        <p:nvSpPr>
          <p:cNvPr id="7" name="TextBox 6"/>
          <p:cNvSpPr txBox="1"/>
          <p:nvPr/>
        </p:nvSpPr>
        <p:spPr>
          <a:xfrm>
            <a:off x="1645920" y="2304288"/>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Ausgangslage, Auftrag und Zielsetzung</a:t>
            </a:r>
          </a:p>
        </p:txBody>
      </p:sp>
      <p:sp>
        <p:nvSpPr>
          <p:cNvPr id="8" name="Rounded Rectangle 7"/>
          <p:cNvSpPr/>
          <p:nvPr/>
        </p:nvSpPr>
        <p:spPr>
          <a:xfrm>
            <a:off x="6172200" y="1737360"/>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55664" y="216255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02</a:t>
            </a:r>
          </a:p>
        </p:txBody>
      </p:sp>
      <p:sp>
        <p:nvSpPr>
          <p:cNvPr id="10" name="TextBox 9"/>
          <p:cNvSpPr txBox="1"/>
          <p:nvPr/>
        </p:nvSpPr>
        <p:spPr>
          <a:xfrm>
            <a:off x="7178040" y="1938528"/>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Projektablauf</a:t>
            </a:r>
          </a:p>
        </p:txBody>
      </p:sp>
      <p:sp>
        <p:nvSpPr>
          <p:cNvPr id="11" name="TextBox 10"/>
          <p:cNvSpPr txBox="1"/>
          <p:nvPr/>
        </p:nvSpPr>
        <p:spPr>
          <a:xfrm>
            <a:off x="7178040" y="2304288"/>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Vorgehen in vier Phasen – KW17 bis KW27</a:t>
            </a:r>
          </a:p>
        </p:txBody>
      </p:sp>
      <p:sp>
        <p:nvSpPr>
          <p:cNvPr id="12" name="Rounded Rectangle 11"/>
          <p:cNvSpPr/>
          <p:nvPr/>
        </p:nvSpPr>
        <p:spPr>
          <a:xfrm>
            <a:off x="640080" y="3474720"/>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3543" y="389991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03</a:t>
            </a:r>
          </a:p>
        </p:txBody>
      </p:sp>
      <p:sp>
        <p:nvSpPr>
          <p:cNvPr id="14" name="TextBox 13"/>
          <p:cNvSpPr txBox="1"/>
          <p:nvPr/>
        </p:nvSpPr>
        <p:spPr>
          <a:xfrm>
            <a:off x="1645920" y="3675887"/>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Technische Umsetzung</a:t>
            </a:r>
          </a:p>
        </p:txBody>
      </p:sp>
      <p:sp>
        <p:nvSpPr>
          <p:cNvPr id="15" name="TextBox 14"/>
          <p:cNvSpPr txBox="1"/>
          <p:nvPr/>
        </p:nvSpPr>
        <p:spPr>
          <a:xfrm>
            <a:off x="1645920" y="4041648"/>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Systeme, Migrationsstrategie, Datenmapping</a:t>
            </a:r>
          </a:p>
        </p:txBody>
      </p:sp>
      <p:sp>
        <p:nvSpPr>
          <p:cNvPr id="16" name="Rounded Rectangle 15"/>
          <p:cNvSpPr/>
          <p:nvPr/>
        </p:nvSpPr>
        <p:spPr>
          <a:xfrm>
            <a:off x="6172200" y="3474720"/>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55664" y="389991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04</a:t>
            </a:r>
          </a:p>
        </p:txBody>
      </p:sp>
      <p:sp>
        <p:nvSpPr>
          <p:cNvPr id="18" name="TextBox 17"/>
          <p:cNvSpPr txBox="1"/>
          <p:nvPr/>
        </p:nvSpPr>
        <p:spPr>
          <a:xfrm>
            <a:off x="7178040" y="3675887"/>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Ergebnisse &amp; Vergleich</a:t>
            </a:r>
          </a:p>
        </p:txBody>
      </p:sp>
      <p:sp>
        <p:nvSpPr>
          <p:cNvPr id="19" name="TextBox 18"/>
          <p:cNvSpPr txBox="1"/>
          <p:nvPr/>
        </p:nvSpPr>
        <p:spPr>
          <a:xfrm>
            <a:off x="7178040" y="4041648"/>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Vorher / Nachher und Testresultate</a:t>
            </a:r>
          </a:p>
        </p:txBody>
      </p:sp>
      <p:sp>
        <p:nvSpPr>
          <p:cNvPr id="20" name="Rounded Rectangle 19"/>
          <p:cNvSpPr/>
          <p:nvPr/>
        </p:nvSpPr>
        <p:spPr>
          <a:xfrm>
            <a:off x="640080" y="5212079"/>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3543" y="563727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05</a:t>
            </a:r>
          </a:p>
        </p:txBody>
      </p:sp>
      <p:sp>
        <p:nvSpPr>
          <p:cNvPr id="22" name="TextBox 21"/>
          <p:cNvSpPr txBox="1"/>
          <p:nvPr/>
        </p:nvSpPr>
        <p:spPr>
          <a:xfrm>
            <a:off x="1645920" y="5413247"/>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Herausforderungen</a:t>
            </a:r>
          </a:p>
        </p:txBody>
      </p:sp>
      <p:sp>
        <p:nvSpPr>
          <p:cNvPr id="23" name="TextBox 22"/>
          <p:cNvSpPr txBox="1"/>
          <p:nvPr/>
        </p:nvSpPr>
        <p:spPr>
          <a:xfrm>
            <a:off x="1645920" y="5779007"/>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Probleme und Lösungsansätze</a:t>
            </a:r>
          </a:p>
        </p:txBody>
      </p:sp>
      <p:sp>
        <p:nvSpPr>
          <p:cNvPr id="24" name="Rounded Rectangle 23"/>
          <p:cNvSpPr/>
          <p:nvPr/>
        </p:nvSpPr>
        <p:spPr>
          <a:xfrm>
            <a:off x="6172200" y="5212079"/>
            <a:ext cx="5120640"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5664" y="5637276"/>
            <a:ext cx="566928" cy="5669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06</a:t>
            </a:r>
          </a:p>
        </p:txBody>
      </p:sp>
      <p:sp>
        <p:nvSpPr>
          <p:cNvPr id="26" name="TextBox 25"/>
          <p:cNvSpPr txBox="1"/>
          <p:nvPr/>
        </p:nvSpPr>
        <p:spPr>
          <a:xfrm>
            <a:off x="7178040" y="5413247"/>
            <a:ext cx="393192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Reflexion &amp; Live-Demo</a:t>
            </a:r>
          </a:p>
        </p:txBody>
      </p:sp>
      <p:sp>
        <p:nvSpPr>
          <p:cNvPr id="27" name="TextBox 26"/>
          <p:cNvSpPr txBox="1"/>
          <p:nvPr/>
        </p:nvSpPr>
        <p:spPr>
          <a:xfrm>
            <a:off x="7178040" y="5779007"/>
            <a:ext cx="3931920" cy="640080"/>
          </a:xfrm>
          <a:prstGeom prst="rect">
            <a:avLst/>
          </a:prstGeom>
          <a:noFill/>
        </p:spPr>
        <p:txBody>
          <a:bodyPr wrap="square" anchor="t" lIns="0" rIns="0" tIns="0" bIns="0">
            <a:spAutoFit/>
          </a:bodyPr>
          <a:lstStyle/>
          <a:p>
            <a:pPr algn="l">
              <a:lnSpc>
                <a:spcPct val="105000"/>
              </a:lnSpc>
              <a:spcAft>
                <a:spcPts val="0"/>
              </a:spcAft>
            </a:pPr>
            <a:r>
              <a:rPr sz="1150" b="0" i="0">
                <a:solidFill>
                  <a:srgbClr val="5B6B7C"/>
                </a:solidFill>
                <a:latin typeface="Calibri"/>
              </a:rPr>
              <a:t>Lessons Learned und Vorführung des Systems</a:t>
            </a:r>
          </a:p>
        </p:txBody>
      </p:sp>
      <p:sp>
        <p:nvSpPr>
          <p:cNvPr id="28" name="TextBox 27"/>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PROJEKTÜBERSICHT</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Ausgangslage, Definition und Auftrag</a:t>
            </a:r>
          </a:p>
        </p:txBody>
      </p:sp>
      <p:sp>
        <p:nvSpPr>
          <p:cNvPr id="4" name="Rounded Rectangle 3"/>
          <p:cNvSpPr/>
          <p:nvPr/>
        </p:nvSpPr>
        <p:spPr>
          <a:xfrm>
            <a:off x="640080" y="1737360"/>
            <a:ext cx="5349240" cy="4297680"/>
          </a:xfrm>
          <a:prstGeom prst="roundRect">
            <a:avLst>
              <a:gd name="adj" fmla="val 5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1540" y="1988820"/>
            <a:ext cx="502920" cy="5029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508760" y="1993392"/>
            <a:ext cx="4297680" cy="457200"/>
          </a:xfrm>
          <a:prstGeom prst="rect">
            <a:avLst/>
          </a:prstGeom>
          <a:noFill/>
        </p:spPr>
        <p:txBody>
          <a:bodyPr wrap="square" anchor="t" lIns="0" rIns="0" tIns="0" bIns="0">
            <a:spAutoFit/>
          </a:bodyPr>
          <a:lstStyle/>
          <a:p>
            <a:pPr algn="l">
              <a:lnSpc>
                <a:spcPct val="100000"/>
              </a:lnSpc>
              <a:spcAft>
                <a:spcPts val="0"/>
              </a:spcAft>
            </a:pPr>
            <a:r>
              <a:rPr sz="1600" b="1" i="0">
                <a:solidFill>
                  <a:srgbClr val="21295C"/>
                </a:solidFill>
                <a:latin typeface="Calibri"/>
              </a:rPr>
              <a:t>Ausgangslage</a:t>
            </a:r>
          </a:p>
        </p:txBody>
      </p:sp>
      <p:sp>
        <p:nvSpPr>
          <p:cNvPr id="7" name="TextBox 6"/>
          <p:cNvSpPr txBox="1"/>
          <p:nvPr/>
        </p:nvSpPr>
        <p:spPr>
          <a:xfrm>
            <a:off x="914400" y="2606040"/>
            <a:ext cx="4846320" cy="1463040"/>
          </a:xfrm>
          <a:prstGeom prst="rect">
            <a:avLst/>
          </a:prstGeom>
          <a:noFill/>
        </p:spPr>
        <p:txBody>
          <a:bodyPr wrap="square" lIns="0" rIns="0" tIns="0" bIns="0">
            <a:spAutoFit/>
          </a:bodyPr>
          <a:lstStyle/>
          <a:p>
            <a:pPr algn="l">
              <a:lnSpc>
                <a:spcPct val="108000"/>
              </a:lnSpc>
              <a:spcAft>
                <a:spcPts val="1000"/>
              </a:spcAft>
            </a:pPr>
            <a:r>
              <a:rPr sz="1350" b="1">
                <a:solidFill>
                  <a:srgbClr val="065A82"/>
                </a:solidFill>
                <a:latin typeface="Calibri"/>
              </a:rPr>
              <a:t>•  </a:t>
            </a:r>
            <a:r>
              <a:rPr sz="1350">
                <a:solidFill>
                  <a:srgbClr val="1E2633"/>
                </a:solidFill>
                <a:latin typeface="Calibri"/>
              </a:rPr>
              <a:t>Interne Webapplikation speichert Geschäfts- und Benutzerdaten in MariaDB</a:t>
            </a:r>
          </a:p>
          <a:p>
            <a:pPr algn="l">
              <a:lnSpc>
                <a:spcPct val="108000"/>
              </a:lnSpc>
              <a:spcAft>
                <a:spcPts val="1000"/>
              </a:spcAft>
            </a:pPr>
            <a:r>
              <a:rPr sz="1350" b="1">
                <a:solidFill>
                  <a:srgbClr val="065A82"/>
                </a:solidFill>
                <a:latin typeface="Calibri"/>
              </a:rPr>
              <a:t>•  </a:t>
            </a:r>
            <a:r>
              <a:rPr sz="1350">
                <a:solidFill>
                  <a:srgbClr val="1E2633"/>
                </a:solidFill>
                <a:latin typeface="Calibri"/>
              </a:rPr>
              <a:t>Steigende Anforderungen an Stabilität, Skalierbarkeit und Erweiterbarkeit</a:t>
            </a:r>
          </a:p>
        </p:txBody>
      </p:sp>
      <p:sp>
        <p:nvSpPr>
          <p:cNvPr id="8" name="Oval 7"/>
          <p:cNvSpPr/>
          <p:nvPr/>
        </p:nvSpPr>
        <p:spPr>
          <a:xfrm>
            <a:off x="891540" y="4091939"/>
            <a:ext cx="502920" cy="5029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1508760" y="4096512"/>
            <a:ext cx="4297680" cy="457200"/>
          </a:xfrm>
          <a:prstGeom prst="rect">
            <a:avLst/>
          </a:prstGeom>
          <a:noFill/>
        </p:spPr>
        <p:txBody>
          <a:bodyPr wrap="square" anchor="t" lIns="0" rIns="0" tIns="0" bIns="0">
            <a:spAutoFit/>
          </a:bodyPr>
          <a:lstStyle/>
          <a:p>
            <a:pPr algn="l">
              <a:lnSpc>
                <a:spcPct val="100000"/>
              </a:lnSpc>
              <a:spcAft>
                <a:spcPts val="0"/>
              </a:spcAft>
            </a:pPr>
            <a:r>
              <a:rPr sz="1600" b="1" i="0">
                <a:solidFill>
                  <a:srgbClr val="21295C"/>
                </a:solidFill>
                <a:latin typeface="Calibri"/>
              </a:rPr>
              <a:t>Was ist Softwaremigration?</a:t>
            </a:r>
          </a:p>
        </p:txBody>
      </p:sp>
      <p:sp>
        <p:nvSpPr>
          <p:cNvPr id="10" name="TextBox 9"/>
          <p:cNvSpPr txBox="1"/>
          <p:nvPr/>
        </p:nvSpPr>
        <p:spPr>
          <a:xfrm>
            <a:off x="914400" y="4663440"/>
            <a:ext cx="4846320" cy="1097280"/>
          </a:xfrm>
          <a:prstGeom prst="rect">
            <a:avLst/>
          </a:prstGeom>
          <a:noFill/>
        </p:spPr>
        <p:txBody>
          <a:bodyPr wrap="square" anchor="t" lIns="0" rIns="0" tIns="0" bIns="0">
            <a:spAutoFit/>
          </a:bodyPr>
          <a:lstStyle/>
          <a:p>
            <a:pPr algn="l">
              <a:lnSpc>
                <a:spcPct val="115000"/>
              </a:lnSpc>
              <a:spcAft>
                <a:spcPts val="0"/>
              </a:spcAft>
            </a:pPr>
            <a:r>
              <a:rPr sz="1350" b="0" i="1">
                <a:solidFill>
                  <a:srgbClr val="1E2633"/>
                </a:solidFill>
                <a:latin typeface="Calibri"/>
              </a:rPr>
              <a:t>Die kontrollierte Überführung von Daten und Systemen von einer Plattform auf eine andere – unter Beibehaltung von Funktionalität und Datenintegrität.</a:t>
            </a:r>
          </a:p>
        </p:txBody>
      </p:sp>
      <p:sp>
        <p:nvSpPr>
          <p:cNvPr id="11" name="Rounded Rectangle 10"/>
          <p:cNvSpPr/>
          <p:nvPr/>
        </p:nvSpPr>
        <p:spPr>
          <a:xfrm>
            <a:off x="6199632" y="1737360"/>
            <a:ext cx="5349240" cy="4297680"/>
          </a:xfrm>
          <a:prstGeom prst="roundRect">
            <a:avLst>
              <a:gd name="adj" fmla="val 5000"/>
            </a:avLst>
          </a:prstGeom>
          <a:solidFill>
            <a:srgbClr val="21295C"/>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11680"/>
            <a:ext cx="45720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02C39A"/>
                </a:solidFill>
                <a:latin typeface="Calibri"/>
              </a:rPr>
              <a:t>Projektauftrag</a:t>
            </a:r>
          </a:p>
        </p:txBody>
      </p:sp>
      <p:sp>
        <p:nvSpPr>
          <p:cNvPr id="13" name="TextBox 12"/>
          <p:cNvSpPr txBox="1"/>
          <p:nvPr/>
        </p:nvSpPr>
        <p:spPr>
          <a:xfrm>
            <a:off x="6583680" y="2514600"/>
            <a:ext cx="45720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CADCFC"/>
                </a:solidFill>
                <a:latin typeface="Calibri"/>
              </a:rPr>
              <a:t>ZIEL</a:t>
            </a:r>
          </a:p>
        </p:txBody>
      </p:sp>
      <p:sp>
        <p:nvSpPr>
          <p:cNvPr id="14" name="TextBox 13"/>
          <p:cNvSpPr txBox="1"/>
          <p:nvPr/>
        </p:nvSpPr>
        <p:spPr>
          <a:xfrm>
            <a:off x="6583680" y="2788920"/>
            <a:ext cx="4663440" cy="822960"/>
          </a:xfrm>
          <a:prstGeom prst="rect">
            <a:avLst/>
          </a:prstGeom>
          <a:noFill/>
        </p:spPr>
        <p:txBody>
          <a:bodyPr wrap="square" anchor="t" lIns="0" rIns="0" tIns="0" bIns="0">
            <a:spAutoFit/>
          </a:bodyPr>
          <a:lstStyle/>
          <a:p>
            <a:pPr algn="l">
              <a:lnSpc>
                <a:spcPct val="115000"/>
              </a:lnSpc>
              <a:spcAft>
                <a:spcPts val="0"/>
              </a:spcAft>
            </a:pPr>
            <a:r>
              <a:rPr sz="1300" b="0" i="0">
                <a:solidFill>
                  <a:srgbClr val="FFFFFF"/>
                </a:solidFill>
                <a:latin typeface="Calibri"/>
              </a:rPr>
              <a:t>Bestehende MariaDB-Datenbank vollständig nach PostgreSQL migrieren – Struktur, Daten und zentrale Einstellungen.</a:t>
            </a:r>
          </a:p>
        </p:txBody>
      </p:sp>
      <p:sp>
        <p:nvSpPr>
          <p:cNvPr id="15" name="TextBox 14"/>
          <p:cNvSpPr txBox="1"/>
          <p:nvPr/>
        </p:nvSpPr>
        <p:spPr>
          <a:xfrm>
            <a:off x="6583680" y="3703320"/>
            <a:ext cx="45720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CADCFC"/>
                </a:solidFill>
                <a:latin typeface="Calibri"/>
              </a:rPr>
              <a:t>ABGRENZUNG</a:t>
            </a:r>
          </a:p>
        </p:txBody>
      </p:sp>
      <p:sp>
        <p:nvSpPr>
          <p:cNvPr id="16" name="TextBox 15"/>
          <p:cNvSpPr txBox="1"/>
          <p:nvPr/>
        </p:nvSpPr>
        <p:spPr>
          <a:xfrm>
            <a:off x="6583680" y="3977639"/>
            <a:ext cx="4663440" cy="822960"/>
          </a:xfrm>
          <a:prstGeom prst="rect">
            <a:avLst/>
          </a:prstGeom>
          <a:noFill/>
        </p:spPr>
        <p:txBody>
          <a:bodyPr wrap="square" anchor="t" lIns="0" rIns="0" tIns="0" bIns="0">
            <a:spAutoFit/>
          </a:bodyPr>
          <a:lstStyle/>
          <a:p>
            <a:pPr algn="l">
              <a:lnSpc>
                <a:spcPct val="115000"/>
              </a:lnSpc>
              <a:spcAft>
                <a:spcPts val="0"/>
              </a:spcAft>
            </a:pPr>
            <a:r>
              <a:rPr sz="1300" b="0" i="0">
                <a:solidFill>
                  <a:srgbClr val="FFFFFF"/>
                </a:solidFill>
                <a:latin typeface="Calibri"/>
              </a:rPr>
              <a:t>Keine Neuentwicklung der Applikation, keine grossen Anpassungen an UI oder Geschäftsprozessen.</a:t>
            </a:r>
          </a:p>
        </p:txBody>
      </p:sp>
      <p:sp>
        <p:nvSpPr>
          <p:cNvPr id="17" name="TextBox 16"/>
          <p:cNvSpPr txBox="1"/>
          <p:nvPr/>
        </p:nvSpPr>
        <p:spPr>
          <a:xfrm>
            <a:off x="6583680" y="4892040"/>
            <a:ext cx="45720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CADCFC"/>
                </a:solidFill>
                <a:latin typeface="Calibri"/>
              </a:rPr>
              <a:t>ERWARTETES ERGEBNIS</a:t>
            </a:r>
          </a:p>
        </p:txBody>
      </p:sp>
      <p:sp>
        <p:nvSpPr>
          <p:cNvPr id="18" name="TextBox 17"/>
          <p:cNvSpPr txBox="1"/>
          <p:nvPr/>
        </p:nvSpPr>
        <p:spPr>
          <a:xfrm>
            <a:off x="6583680" y="5166360"/>
            <a:ext cx="4663440" cy="822960"/>
          </a:xfrm>
          <a:prstGeom prst="rect">
            <a:avLst/>
          </a:prstGeom>
          <a:noFill/>
        </p:spPr>
        <p:txBody>
          <a:bodyPr wrap="square" anchor="t" lIns="0" rIns="0" tIns="0" bIns="0">
            <a:spAutoFit/>
          </a:bodyPr>
          <a:lstStyle/>
          <a:p>
            <a:pPr algn="l">
              <a:lnSpc>
                <a:spcPct val="115000"/>
              </a:lnSpc>
              <a:spcAft>
                <a:spcPts val="0"/>
              </a:spcAft>
            </a:pPr>
            <a:r>
              <a:rPr sz="1300" b="0" i="0">
                <a:solidFill>
                  <a:srgbClr val="FFFFFF"/>
                </a:solidFill>
                <a:latin typeface="Calibri"/>
              </a:rPr>
              <a:t>Funktionierende PostgreSQL-Datenbank mit vollständig übernommenen, validierten Daten.</a:t>
            </a:r>
          </a:p>
        </p:txBody>
      </p:sp>
      <p:sp>
        <p:nvSpPr>
          <p:cNvPr id="19" name="TextBox 18"/>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PROJEKTABLAUF</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Vorgehen in vier Phasen (KW 17 – KW 27)</a:t>
            </a:r>
          </a:p>
        </p:txBody>
      </p:sp>
      <p:sp>
        <p:nvSpPr>
          <p:cNvPr id="4" name="Rectangle 3"/>
          <p:cNvSpPr/>
          <p:nvPr/>
        </p:nvSpPr>
        <p:spPr>
          <a:xfrm>
            <a:off x="1280160" y="2724912"/>
            <a:ext cx="9601200" cy="41148"/>
          </a:xfrm>
          <a:prstGeom prst="rect">
            <a:avLst/>
          </a:prstGeom>
          <a:solidFill>
            <a:srgbClr val="E6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8700" y="2491740"/>
            <a:ext cx="502920" cy="5029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Rounded Rectangle 5"/>
          <p:cNvSpPr/>
          <p:nvPr/>
        </p:nvSpPr>
        <p:spPr>
          <a:xfrm>
            <a:off x="137159" y="3246120"/>
            <a:ext cx="2286000" cy="228600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39" y="3429000"/>
            <a:ext cx="192024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Initialisierung</a:t>
            </a:r>
          </a:p>
        </p:txBody>
      </p:sp>
      <p:sp>
        <p:nvSpPr>
          <p:cNvPr id="8" name="TextBox 7"/>
          <p:cNvSpPr txBox="1"/>
          <p:nvPr/>
        </p:nvSpPr>
        <p:spPr>
          <a:xfrm>
            <a:off x="320039" y="3840480"/>
            <a:ext cx="1920240" cy="914400"/>
          </a:xfrm>
          <a:prstGeom prst="rect">
            <a:avLst/>
          </a:prstGeom>
          <a:noFill/>
        </p:spPr>
        <p:txBody>
          <a:bodyPr wrap="square" anchor="t" lIns="0" rIns="0" tIns="0" bIns="0">
            <a:spAutoFit/>
          </a:bodyPr>
          <a:lstStyle/>
          <a:p>
            <a:pPr algn="l">
              <a:lnSpc>
                <a:spcPct val="110000"/>
              </a:lnSpc>
              <a:spcAft>
                <a:spcPts val="0"/>
              </a:spcAft>
            </a:pPr>
            <a:r>
              <a:rPr sz="1150" b="0" i="0">
                <a:solidFill>
                  <a:srgbClr val="5B6B7C"/>
                </a:solidFill>
                <a:latin typeface="Calibri"/>
              </a:rPr>
              <a:t>Ausgangslage, Auftrag</a:t>
            </a:r>
            <a:br/>
            <a:r>
              <a:rPr sz="1150" b="0" i="0">
                <a:solidFill>
                  <a:srgbClr val="5B6B7C"/>
                </a:solidFill>
                <a:latin typeface="Calibri"/>
              </a:rPr>
              <a:t>und Stakeholder</a:t>
            </a:r>
          </a:p>
        </p:txBody>
      </p:sp>
      <p:sp>
        <p:nvSpPr>
          <p:cNvPr id="9" name="TextBox 8"/>
          <p:cNvSpPr txBox="1"/>
          <p:nvPr/>
        </p:nvSpPr>
        <p:spPr>
          <a:xfrm>
            <a:off x="320039" y="5074920"/>
            <a:ext cx="192024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C7293"/>
                </a:solidFill>
                <a:latin typeface="Calibri"/>
              </a:rPr>
              <a:t>KW 17</a:t>
            </a:r>
          </a:p>
        </p:txBody>
      </p:sp>
      <p:sp>
        <p:nvSpPr>
          <p:cNvPr id="10" name="Oval 9"/>
          <p:cNvSpPr/>
          <p:nvPr/>
        </p:nvSpPr>
        <p:spPr>
          <a:xfrm>
            <a:off x="4229100" y="2491740"/>
            <a:ext cx="502920" cy="5029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Rounded Rectangle 10"/>
          <p:cNvSpPr/>
          <p:nvPr/>
        </p:nvSpPr>
        <p:spPr>
          <a:xfrm>
            <a:off x="3337560" y="3246120"/>
            <a:ext cx="2286000" cy="228600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3429000"/>
            <a:ext cx="192024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Konzept</a:t>
            </a:r>
          </a:p>
        </p:txBody>
      </p:sp>
      <p:sp>
        <p:nvSpPr>
          <p:cNvPr id="13" name="TextBox 12"/>
          <p:cNvSpPr txBox="1"/>
          <p:nvPr/>
        </p:nvSpPr>
        <p:spPr>
          <a:xfrm>
            <a:off x="3520440" y="3840480"/>
            <a:ext cx="1920240" cy="914400"/>
          </a:xfrm>
          <a:prstGeom prst="rect">
            <a:avLst/>
          </a:prstGeom>
          <a:noFill/>
        </p:spPr>
        <p:txBody>
          <a:bodyPr wrap="square" anchor="t" lIns="0" rIns="0" tIns="0" bIns="0">
            <a:spAutoFit/>
          </a:bodyPr>
          <a:lstStyle/>
          <a:p>
            <a:pPr algn="l">
              <a:lnSpc>
                <a:spcPct val="110000"/>
              </a:lnSpc>
              <a:spcAft>
                <a:spcPts val="0"/>
              </a:spcAft>
            </a:pPr>
            <a:r>
              <a:rPr sz="1150" b="0" i="0">
                <a:solidFill>
                  <a:srgbClr val="5B6B7C"/>
                </a:solidFill>
                <a:latin typeface="Calibri"/>
              </a:rPr>
              <a:t>Migrationsstrategie &amp;</a:t>
            </a:r>
            <a:br/>
            <a:r>
              <a:rPr sz="1150" b="0" i="0">
                <a:solidFill>
                  <a:srgbClr val="5B6B7C"/>
                </a:solidFill>
                <a:latin typeface="Calibri"/>
              </a:rPr>
              <a:t>Zielarchitektur erstellt</a:t>
            </a:r>
          </a:p>
        </p:txBody>
      </p:sp>
      <p:sp>
        <p:nvSpPr>
          <p:cNvPr id="14" name="TextBox 13"/>
          <p:cNvSpPr txBox="1"/>
          <p:nvPr/>
        </p:nvSpPr>
        <p:spPr>
          <a:xfrm>
            <a:off x="3520440" y="5074920"/>
            <a:ext cx="192024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C7293"/>
                </a:solidFill>
                <a:latin typeface="Calibri"/>
              </a:rPr>
              <a:t>KW 18–21</a:t>
            </a:r>
          </a:p>
        </p:txBody>
      </p:sp>
      <p:sp>
        <p:nvSpPr>
          <p:cNvPr id="15" name="Oval 14"/>
          <p:cNvSpPr/>
          <p:nvPr/>
        </p:nvSpPr>
        <p:spPr>
          <a:xfrm>
            <a:off x="7429500" y="2491740"/>
            <a:ext cx="502920" cy="5029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Rounded Rectangle 15"/>
          <p:cNvSpPr/>
          <p:nvPr/>
        </p:nvSpPr>
        <p:spPr>
          <a:xfrm>
            <a:off x="6537960" y="3246120"/>
            <a:ext cx="2286000" cy="228600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429000"/>
            <a:ext cx="192024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Realisierung</a:t>
            </a:r>
          </a:p>
        </p:txBody>
      </p:sp>
      <p:sp>
        <p:nvSpPr>
          <p:cNvPr id="18" name="TextBox 17"/>
          <p:cNvSpPr txBox="1"/>
          <p:nvPr/>
        </p:nvSpPr>
        <p:spPr>
          <a:xfrm>
            <a:off x="6720840" y="3840480"/>
            <a:ext cx="1920240" cy="914400"/>
          </a:xfrm>
          <a:prstGeom prst="rect">
            <a:avLst/>
          </a:prstGeom>
          <a:noFill/>
        </p:spPr>
        <p:txBody>
          <a:bodyPr wrap="square" anchor="t" lIns="0" rIns="0" tIns="0" bIns="0">
            <a:spAutoFit/>
          </a:bodyPr>
          <a:lstStyle/>
          <a:p>
            <a:pPr algn="l">
              <a:lnSpc>
                <a:spcPct val="110000"/>
              </a:lnSpc>
              <a:spcAft>
                <a:spcPts val="0"/>
              </a:spcAft>
            </a:pPr>
            <a:r>
              <a:rPr sz="1150" b="0" i="0">
                <a:solidFill>
                  <a:srgbClr val="5B6B7C"/>
                </a:solidFill>
                <a:latin typeface="Calibri"/>
              </a:rPr>
              <a:t>Aufbau, Migration</a:t>
            </a:r>
            <a:br/>
            <a:r>
              <a:rPr sz="1150" b="0" i="0">
                <a:solidFill>
                  <a:srgbClr val="5B6B7C"/>
                </a:solidFill>
                <a:latin typeface="Calibri"/>
              </a:rPr>
              <a:t>und Tests durchgeführt</a:t>
            </a:r>
          </a:p>
        </p:txBody>
      </p:sp>
      <p:sp>
        <p:nvSpPr>
          <p:cNvPr id="19" name="TextBox 18"/>
          <p:cNvSpPr txBox="1"/>
          <p:nvPr/>
        </p:nvSpPr>
        <p:spPr>
          <a:xfrm>
            <a:off x="6720840" y="5074920"/>
            <a:ext cx="192024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C7293"/>
                </a:solidFill>
                <a:latin typeface="Calibri"/>
              </a:rPr>
              <a:t>KW 22–24</a:t>
            </a:r>
          </a:p>
        </p:txBody>
      </p:sp>
      <p:sp>
        <p:nvSpPr>
          <p:cNvPr id="20" name="Oval 19"/>
          <p:cNvSpPr/>
          <p:nvPr/>
        </p:nvSpPr>
        <p:spPr>
          <a:xfrm>
            <a:off x="10629900" y="249174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1" name="Rounded Rectangle 20"/>
          <p:cNvSpPr/>
          <p:nvPr/>
        </p:nvSpPr>
        <p:spPr>
          <a:xfrm>
            <a:off x="9738360" y="3246120"/>
            <a:ext cx="2286000" cy="228600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21240" y="3429000"/>
            <a:ext cx="1920240" cy="36576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Einführung</a:t>
            </a:r>
          </a:p>
        </p:txBody>
      </p:sp>
      <p:sp>
        <p:nvSpPr>
          <p:cNvPr id="23" name="TextBox 22"/>
          <p:cNvSpPr txBox="1"/>
          <p:nvPr/>
        </p:nvSpPr>
        <p:spPr>
          <a:xfrm>
            <a:off x="9921240" y="3840480"/>
            <a:ext cx="1920240" cy="914400"/>
          </a:xfrm>
          <a:prstGeom prst="rect">
            <a:avLst/>
          </a:prstGeom>
          <a:noFill/>
        </p:spPr>
        <p:txBody>
          <a:bodyPr wrap="square" anchor="t" lIns="0" rIns="0" tIns="0" bIns="0">
            <a:spAutoFit/>
          </a:bodyPr>
          <a:lstStyle/>
          <a:p>
            <a:pPr algn="l">
              <a:lnSpc>
                <a:spcPct val="110000"/>
              </a:lnSpc>
              <a:spcAft>
                <a:spcPts val="0"/>
              </a:spcAft>
            </a:pPr>
            <a:r>
              <a:rPr sz="1150" b="0" i="0">
                <a:solidFill>
                  <a:srgbClr val="5B6B7C"/>
                </a:solidFill>
                <a:latin typeface="Calibri"/>
              </a:rPr>
              <a:t>Produktivmigration &amp;</a:t>
            </a:r>
            <a:br/>
            <a:r>
              <a:rPr sz="1150" b="0" i="0">
                <a:solidFill>
                  <a:srgbClr val="5B6B7C"/>
                </a:solidFill>
                <a:latin typeface="Calibri"/>
              </a:rPr>
              <a:t>Projektabschluss</a:t>
            </a:r>
          </a:p>
        </p:txBody>
      </p:sp>
      <p:sp>
        <p:nvSpPr>
          <p:cNvPr id="24" name="TextBox 23"/>
          <p:cNvSpPr txBox="1"/>
          <p:nvPr/>
        </p:nvSpPr>
        <p:spPr>
          <a:xfrm>
            <a:off x="9921240" y="5074920"/>
            <a:ext cx="192024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C7293"/>
                </a:solidFill>
                <a:latin typeface="Calibri"/>
              </a:rPr>
              <a:t>KW 25–27</a:t>
            </a:r>
          </a:p>
        </p:txBody>
      </p:sp>
      <p:sp>
        <p:nvSpPr>
          <p:cNvPr id="25" name="TextBox 24"/>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TECHNISCHE UMSETZUNG</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Systemlandschaft</a:t>
            </a:r>
          </a:p>
        </p:txBody>
      </p:sp>
      <p:sp>
        <p:nvSpPr>
          <p:cNvPr id="4" name="Rounded Rectangle 3"/>
          <p:cNvSpPr/>
          <p:nvPr/>
        </p:nvSpPr>
        <p:spPr>
          <a:xfrm>
            <a:off x="640080" y="1828800"/>
            <a:ext cx="3840480" cy="3566160"/>
          </a:xfrm>
          <a:prstGeom prst="roundRect">
            <a:avLst>
              <a:gd name="adj" fmla="val 6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7259" y="2080260"/>
            <a:ext cx="502920" cy="5029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DB</a:t>
            </a:r>
          </a:p>
        </p:txBody>
      </p:sp>
      <p:sp>
        <p:nvSpPr>
          <p:cNvPr id="6" name="TextBox 5"/>
          <p:cNvSpPr txBox="1"/>
          <p:nvPr/>
        </p:nvSpPr>
        <p:spPr>
          <a:xfrm>
            <a:off x="1600200" y="2103120"/>
            <a:ext cx="2743200" cy="457200"/>
          </a:xfrm>
          <a:prstGeom prst="rect">
            <a:avLst/>
          </a:prstGeom>
          <a:noFill/>
        </p:spPr>
        <p:txBody>
          <a:bodyPr wrap="square" anchor="t" lIns="0" rIns="0" tIns="0" bIns="0">
            <a:spAutoFit/>
          </a:bodyPr>
          <a:lstStyle/>
          <a:p>
            <a:pPr algn="l">
              <a:lnSpc>
                <a:spcPct val="100000"/>
              </a:lnSpc>
              <a:spcAft>
                <a:spcPts val="0"/>
              </a:spcAft>
            </a:pPr>
            <a:r>
              <a:rPr sz="1500" b="1" i="0">
                <a:solidFill>
                  <a:srgbClr val="21295C"/>
                </a:solidFill>
                <a:latin typeface="Calibri"/>
              </a:rPr>
              <a:t>Quellsystem</a:t>
            </a:r>
          </a:p>
        </p:txBody>
      </p:sp>
      <p:sp>
        <p:nvSpPr>
          <p:cNvPr id="7" name="TextBox 6"/>
          <p:cNvSpPr txBox="1"/>
          <p:nvPr/>
        </p:nvSpPr>
        <p:spPr>
          <a:xfrm>
            <a:off x="914400" y="2743200"/>
            <a:ext cx="3291840" cy="2377440"/>
          </a:xfrm>
          <a:prstGeom prst="rect">
            <a:avLst/>
          </a:prstGeom>
          <a:noFill/>
        </p:spPr>
        <p:txBody>
          <a:bodyPr wrap="square" lIns="0" rIns="0" tIns="0" bIns="0">
            <a:spAutoFit/>
          </a:bodyPr>
          <a:lstStyle/>
          <a:p>
            <a:pPr algn="l">
              <a:lnSpc>
                <a:spcPct val="108000"/>
              </a:lnSpc>
              <a:spcAft>
                <a:spcPts val="900"/>
              </a:spcAft>
            </a:pPr>
            <a:r>
              <a:rPr sz="1300" b="1">
                <a:solidFill>
                  <a:srgbClr val="065A82"/>
                </a:solidFill>
                <a:latin typeface="Calibri"/>
              </a:rPr>
              <a:t>•  </a:t>
            </a:r>
            <a:r>
              <a:rPr sz="1300">
                <a:solidFill>
                  <a:srgbClr val="1E2633"/>
                </a:solidFill>
                <a:latin typeface="Calibri"/>
              </a:rPr>
              <a:t>MariaDB 10.6</a:t>
            </a:r>
          </a:p>
          <a:p>
            <a:pPr algn="l">
              <a:lnSpc>
                <a:spcPct val="108000"/>
              </a:lnSpc>
              <a:spcAft>
                <a:spcPts val="900"/>
              </a:spcAft>
            </a:pPr>
            <a:r>
              <a:rPr sz="1300" b="1">
                <a:solidFill>
                  <a:srgbClr val="065A82"/>
                </a:solidFill>
                <a:latin typeface="Calibri"/>
              </a:rPr>
              <a:t>•  </a:t>
            </a:r>
            <a:r>
              <a:rPr sz="1300">
                <a:solidFill>
                  <a:srgbClr val="1E2633"/>
                </a:solidFill>
                <a:latin typeface="Calibri"/>
              </a:rPr>
              <a:t>25 Tabellen, 8 Views</a:t>
            </a:r>
          </a:p>
          <a:p>
            <a:pPr algn="l">
              <a:lnSpc>
                <a:spcPct val="108000"/>
              </a:lnSpc>
              <a:spcAft>
                <a:spcPts val="900"/>
              </a:spcAft>
            </a:pPr>
            <a:r>
              <a:rPr sz="1300" b="1">
                <a:solidFill>
                  <a:srgbClr val="065A82"/>
                </a:solidFill>
                <a:latin typeface="Calibri"/>
              </a:rPr>
              <a:t>•  </a:t>
            </a:r>
            <a:r>
              <a:rPr sz="1300">
                <a:solidFill>
                  <a:srgbClr val="1E2633"/>
                </a:solidFill>
                <a:latin typeface="Calibri"/>
              </a:rPr>
              <a:t>12 Stored Procedures</a:t>
            </a:r>
          </a:p>
          <a:p>
            <a:pPr algn="l">
              <a:lnSpc>
                <a:spcPct val="108000"/>
              </a:lnSpc>
              <a:spcAft>
                <a:spcPts val="900"/>
              </a:spcAft>
            </a:pPr>
            <a:r>
              <a:rPr sz="1300" b="1">
                <a:solidFill>
                  <a:srgbClr val="065A82"/>
                </a:solidFill>
                <a:latin typeface="Calibri"/>
              </a:rPr>
              <a:t>•  </a:t>
            </a:r>
            <a:r>
              <a:rPr sz="1300">
                <a:solidFill>
                  <a:srgbClr val="1E2633"/>
                </a:solidFill>
                <a:latin typeface="Calibri"/>
              </a:rPr>
              <a:t>7 Trigger</a:t>
            </a:r>
          </a:p>
          <a:p>
            <a:pPr algn="l">
              <a:lnSpc>
                <a:spcPct val="108000"/>
              </a:lnSpc>
              <a:spcAft>
                <a:spcPts val="900"/>
              </a:spcAft>
            </a:pPr>
            <a:r>
              <a:rPr sz="1300" b="1">
                <a:solidFill>
                  <a:srgbClr val="065A82"/>
                </a:solidFill>
                <a:latin typeface="Calibri"/>
              </a:rPr>
              <a:t>•  </a:t>
            </a:r>
            <a:r>
              <a:rPr sz="1300">
                <a:solidFill>
                  <a:srgbClr val="1E2633"/>
                </a:solidFill>
                <a:latin typeface="Calibri"/>
              </a:rPr>
              <a:t>ca. 18 GB Datenvolumen</a:t>
            </a:r>
          </a:p>
        </p:txBody>
      </p:sp>
      <p:sp>
        <p:nvSpPr>
          <p:cNvPr id="8" name="Right Arrow 7"/>
          <p:cNvSpPr/>
          <p:nvPr/>
        </p:nvSpPr>
        <p:spPr>
          <a:xfrm>
            <a:off x="4709160" y="3337560"/>
            <a:ext cx="914400" cy="548640"/>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897880" y="1828800"/>
            <a:ext cx="3840480" cy="3566160"/>
          </a:xfrm>
          <a:prstGeom prst="roundRect">
            <a:avLst>
              <a:gd name="adj" fmla="val 6000"/>
            </a:avLst>
          </a:prstGeom>
          <a:solidFill>
            <a:srgbClr val="21295C"/>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95059" y="208026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1295C"/>
                </a:solidFill>
                <a:latin typeface="Calibri"/>
              </a:rPr>
              <a:t>DB</a:t>
            </a:r>
          </a:p>
        </p:txBody>
      </p:sp>
      <p:sp>
        <p:nvSpPr>
          <p:cNvPr id="11" name="TextBox 10"/>
          <p:cNvSpPr txBox="1"/>
          <p:nvPr/>
        </p:nvSpPr>
        <p:spPr>
          <a:xfrm>
            <a:off x="6858000" y="2103120"/>
            <a:ext cx="2743200" cy="45720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Zielsystem</a:t>
            </a:r>
          </a:p>
        </p:txBody>
      </p:sp>
      <p:sp>
        <p:nvSpPr>
          <p:cNvPr id="12" name="TextBox 11"/>
          <p:cNvSpPr txBox="1"/>
          <p:nvPr/>
        </p:nvSpPr>
        <p:spPr>
          <a:xfrm>
            <a:off x="6172200" y="2743200"/>
            <a:ext cx="3291840" cy="2377440"/>
          </a:xfrm>
          <a:prstGeom prst="rect">
            <a:avLst/>
          </a:prstGeom>
          <a:noFill/>
        </p:spPr>
        <p:txBody>
          <a:bodyPr wrap="square" lIns="0" rIns="0" tIns="0" bIns="0">
            <a:spAutoFit/>
          </a:bodyPr>
          <a:lstStyle/>
          <a:p>
            <a:pPr algn="l">
              <a:lnSpc>
                <a:spcPct val="108000"/>
              </a:lnSpc>
              <a:spcAft>
                <a:spcPts val="900"/>
              </a:spcAft>
            </a:pPr>
            <a:r>
              <a:rPr sz="1300" b="1">
                <a:solidFill>
                  <a:srgbClr val="02C39A"/>
                </a:solidFill>
                <a:latin typeface="Calibri"/>
              </a:rPr>
              <a:t>•  </a:t>
            </a:r>
            <a:r>
              <a:rPr sz="1300">
                <a:solidFill>
                  <a:srgbClr val="FFFFFF"/>
                </a:solidFill>
                <a:latin typeface="Calibri"/>
              </a:rPr>
              <a:t>PostgreSQL 16</a:t>
            </a:r>
          </a:p>
          <a:p>
            <a:pPr algn="l">
              <a:lnSpc>
                <a:spcPct val="108000"/>
              </a:lnSpc>
              <a:spcAft>
                <a:spcPts val="900"/>
              </a:spcAft>
            </a:pPr>
            <a:r>
              <a:rPr sz="1300" b="1">
                <a:solidFill>
                  <a:srgbClr val="02C39A"/>
                </a:solidFill>
                <a:latin typeface="Calibri"/>
              </a:rPr>
              <a:t>•  </a:t>
            </a:r>
            <a:r>
              <a:rPr sz="1300">
                <a:solidFill>
                  <a:srgbClr val="FFFFFF"/>
                </a:solidFill>
                <a:latin typeface="Calibri"/>
              </a:rPr>
              <a:t>Funktional identisches Modell</a:t>
            </a:r>
          </a:p>
          <a:p>
            <a:pPr algn="l">
              <a:lnSpc>
                <a:spcPct val="108000"/>
              </a:lnSpc>
              <a:spcAft>
                <a:spcPts val="900"/>
              </a:spcAft>
            </a:pPr>
            <a:r>
              <a:rPr sz="1300" b="1">
                <a:solidFill>
                  <a:srgbClr val="02C39A"/>
                </a:solidFill>
                <a:latin typeface="Calibri"/>
              </a:rPr>
              <a:t>•  </a:t>
            </a:r>
            <a:r>
              <a:rPr sz="1300">
                <a:solidFill>
                  <a:srgbClr val="FFFFFF"/>
                </a:solidFill>
                <a:latin typeface="Calibri"/>
              </a:rPr>
              <a:t>JSONB, CTEs &amp; erweiterte Indizes</a:t>
            </a:r>
          </a:p>
          <a:p>
            <a:pPr algn="l">
              <a:lnSpc>
                <a:spcPct val="108000"/>
              </a:lnSpc>
              <a:spcAft>
                <a:spcPts val="900"/>
              </a:spcAft>
            </a:pPr>
            <a:r>
              <a:rPr sz="1300" b="1">
                <a:solidFill>
                  <a:srgbClr val="02C39A"/>
                </a:solidFill>
                <a:latin typeface="Calibri"/>
              </a:rPr>
              <a:t>•  </a:t>
            </a:r>
            <a:r>
              <a:rPr sz="1300">
                <a:solidFill>
                  <a:srgbClr val="FFFFFF"/>
                </a:solidFill>
                <a:latin typeface="Calibri"/>
              </a:rPr>
              <a:t>Migration via pgloader</a:t>
            </a:r>
          </a:p>
        </p:txBody>
      </p:sp>
      <p:sp>
        <p:nvSpPr>
          <p:cNvPr id="13" name="Rounded Rectangle 12"/>
          <p:cNvSpPr/>
          <p:nvPr/>
        </p:nvSpPr>
        <p:spPr>
          <a:xfrm>
            <a:off x="640080" y="5623560"/>
            <a:ext cx="9098280" cy="777240"/>
          </a:xfrm>
          <a:prstGeom prst="roundRect">
            <a:avLst>
              <a:gd name="adj" fmla="val 18000"/>
            </a:avLst>
          </a:prstGeom>
          <a:solidFill>
            <a:srgbClr val="E6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33288"/>
            <a:ext cx="1645920" cy="502920"/>
          </a:xfrm>
          <a:prstGeom prst="rect">
            <a:avLst/>
          </a:prstGeom>
          <a:noFill/>
        </p:spPr>
        <p:txBody>
          <a:bodyPr wrap="square" anchor="ctr" lIns="0" rIns="0" tIns="0" bIns="0">
            <a:spAutoFit/>
          </a:bodyPr>
          <a:lstStyle/>
          <a:p>
            <a:pPr algn="l">
              <a:lnSpc>
                <a:spcPct val="100000"/>
              </a:lnSpc>
              <a:spcAft>
                <a:spcPts val="0"/>
              </a:spcAft>
            </a:pPr>
            <a:r>
              <a:rPr sz="1250" b="1" i="0">
                <a:solidFill>
                  <a:srgbClr val="21295C"/>
                </a:solidFill>
                <a:latin typeface="Calibri"/>
              </a:rPr>
              <a:t>Werkzeuge:</a:t>
            </a:r>
          </a:p>
        </p:txBody>
      </p:sp>
      <p:sp>
        <p:nvSpPr>
          <p:cNvPr id="15" name="TextBox 14"/>
          <p:cNvSpPr txBox="1"/>
          <p:nvPr/>
        </p:nvSpPr>
        <p:spPr>
          <a:xfrm>
            <a:off x="2606040" y="5733288"/>
            <a:ext cx="6858000" cy="502920"/>
          </a:xfrm>
          <a:prstGeom prst="rect">
            <a:avLst/>
          </a:prstGeom>
          <a:noFill/>
        </p:spPr>
        <p:txBody>
          <a:bodyPr wrap="square" anchor="ctr" lIns="0" rIns="0" tIns="0" bIns="0">
            <a:spAutoFit/>
          </a:bodyPr>
          <a:lstStyle/>
          <a:p>
            <a:pPr algn="l">
              <a:lnSpc>
                <a:spcPct val="100000"/>
              </a:lnSpc>
              <a:spcAft>
                <a:spcPts val="0"/>
              </a:spcAft>
            </a:pPr>
            <a:r>
              <a:rPr sz="1250" b="0" i="0">
                <a:solidFill>
                  <a:srgbClr val="1E2633"/>
                </a:solidFill>
                <a:latin typeface="Calibri"/>
              </a:rPr>
              <a:t>Docker &amp; Docker Compose  ·  pgloader  ·  WSL2 (lokale Testumgebung)  ·  pgAdmin</a:t>
            </a:r>
          </a:p>
        </p:txBody>
      </p:sp>
      <p:sp>
        <p:nvSpPr>
          <p:cNvPr id="16" name="TextBox 15"/>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TECHNISCHE UMSETZUNG</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Migrationsstrategie: Big Bang vs. Parallelbetrieb</a:t>
            </a:r>
          </a:p>
        </p:txBody>
      </p:sp>
      <p:graphicFrame>
        <p:nvGraphicFramePr>
          <p:cNvPr id="4" name="Table 3"/>
          <p:cNvGraphicFramePr>
            <a:graphicFrameLocks noGrp="1"/>
          </p:cNvGraphicFramePr>
          <p:nvPr/>
        </p:nvGraphicFramePr>
        <p:xfrm>
          <a:off x="640080" y="1828800"/>
          <a:ext cx="6400800" cy="2377440"/>
        </p:xfrm>
        <a:graphic>
          <a:graphicData uri="http://schemas.openxmlformats.org/drawingml/2006/table">
            <a:tbl>
              <a:tblPr firstRow="1" bandRow="1">
                <a:tableStyleId>{5C22544A-7EE6-4342-B048-85BDC9FD1C3A}</a:tableStyleId>
              </a:tblPr>
              <a:tblGrid>
                <a:gridCol w="2377440"/>
                <a:gridCol w="2011680"/>
                <a:gridCol w="2011680"/>
              </a:tblGrid>
              <a:tr h="475488">
                <a:tc>
                  <a:txBody>
                    <a:bodyPr/>
                    <a:lstStyle/>
                    <a:p>
                      <a:pPr algn="l"/>
                      <a:r>
                        <a:rPr sz="1250" b="1">
                          <a:solidFill>
                            <a:srgbClr val="FFFFFF"/>
                          </a:solidFill>
                          <a:latin typeface="Calibri"/>
                        </a:rPr>
                        <a:t>Kriterium</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1">
                          <a:solidFill>
                            <a:srgbClr val="FFFFFF"/>
                          </a:solidFill>
                          <a:latin typeface="Calibri"/>
                        </a:rPr>
                        <a:t>Big Bang</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1">
                          <a:solidFill>
                            <a:srgbClr val="FFFFFF"/>
                          </a:solidFill>
                          <a:latin typeface="Calibri"/>
                        </a:rPr>
                        <a:t>Parallelbetrieb</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75488">
                <a:tc>
                  <a:txBody>
                    <a:bodyPr/>
                    <a:lstStyle/>
                    <a:p>
                      <a:pPr algn="l"/>
                      <a:r>
                        <a:rPr sz="1250" b="0">
                          <a:solidFill>
                            <a:srgbClr val="1E2633"/>
                          </a:solidFill>
                          <a:latin typeface="Calibri"/>
                        </a:rPr>
                        <a:t>Datensicherheit</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Mittel</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Hoch</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75488">
                <a:tc>
                  <a:txBody>
                    <a:bodyPr/>
                    <a:lstStyle/>
                    <a:p>
                      <a:pPr algn="l"/>
                      <a:r>
                        <a:rPr sz="1250" b="0">
                          <a:solidFill>
                            <a:srgbClr val="1E2633"/>
                          </a:solidFill>
                          <a:latin typeface="Calibri"/>
                        </a:rPr>
                        <a:t>Dauer</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Kurz</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Mittel</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75488">
                <a:tc>
                  <a:txBody>
                    <a:bodyPr/>
                    <a:lstStyle/>
                    <a:p>
                      <a:pPr algn="l"/>
                      <a:r>
                        <a:rPr sz="1250" b="0">
                          <a:solidFill>
                            <a:srgbClr val="1E2633"/>
                          </a:solidFill>
                          <a:latin typeface="Calibri"/>
                        </a:rPr>
                        <a:t>Risiko</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Hoch</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Niedrig</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75488">
                <a:tc>
                  <a:txBody>
                    <a:bodyPr/>
                    <a:lstStyle/>
                    <a:p>
                      <a:pPr algn="l"/>
                      <a:r>
                        <a:rPr sz="1250" b="0">
                          <a:solidFill>
                            <a:srgbClr val="1E2633"/>
                          </a:solidFill>
                          <a:latin typeface="Calibri"/>
                        </a:rPr>
                        <a:t>Aufwand</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Niedrig</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0">
                          <a:solidFill>
                            <a:srgbClr val="1E2633"/>
                          </a:solidFill>
                          <a:latin typeface="Calibri"/>
                        </a:rPr>
                        <a:t>Hoch</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bl>
          </a:graphicData>
        </a:graphic>
      </p:graphicFrame>
      <p:sp>
        <p:nvSpPr>
          <p:cNvPr id="5" name="Rounded Rectangle 4"/>
          <p:cNvSpPr/>
          <p:nvPr/>
        </p:nvSpPr>
        <p:spPr>
          <a:xfrm>
            <a:off x="7360920" y="1828800"/>
            <a:ext cx="4206240" cy="4114800"/>
          </a:xfrm>
          <a:prstGeom prst="roundRect">
            <a:avLst>
              <a:gd name="adj" fmla="val 6000"/>
            </a:avLst>
          </a:prstGeom>
          <a:solidFill>
            <a:srgbClr val="21295C"/>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2103120"/>
            <a:ext cx="36576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02C39A"/>
                </a:solidFill>
                <a:latin typeface="Calibri"/>
              </a:rPr>
              <a:t>Entscheid</a:t>
            </a:r>
          </a:p>
        </p:txBody>
      </p:sp>
      <p:sp>
        <p:nvSpPr>
          <p:cNvPr id="7" name="TextBox 6"/>
          <p:cNvSpPr txBox="1"/>
          <p:nvPr/>
        </p:nvSpPr>
        <p:spPr>
          <a:xfrm>
            <a:off x="7680960" y="2606040"/>
            <a:ext cx="3657600" cy="914400"/>
          </a:xfrm>
          <a:prstGeom prst="rect">
            <a:avLst/>
          </a:prstGeom>
          <a:noFill/>
        </p:spPr>
        <p:txBody>
          <a:bodyPr wrap="square" anchor="t" lIns="0" rIns="0" tIns="0" bIns="0">
            <a:spAutoFit/>
          </a:bodyPr>
          <a:lstStyle/>
          <a:p>
            <a:pPr algn="l">
              <a:lnSpc>
                <a:spcPct val="100000"/>
              </a:lnSpc>
              <a:spcAft>
                <a:spcPts val="0"/>
              </a:spcAft>
            </a:pPr>
            <a:r>
              <a:rPr sz="2000" b="1" i="0">
                <a:solidFill>
                  <a:srgbClr val="FFFFFF"/>
                </a:solidFill>
                <a:latin typeface="Calibri"/>
              </a:rPr>
              <a:t>Big-Bang-Migration</a:t>
            </a:r>
          </a:p>
        </p:txBody>
      </p:sp>
      <p:sp>
        <p:nvSpPr>
          <p:cNvPr id="8" name="TextBox 7"/>
          <p:cNvSpPr txBox="1"/>
          <p:nvPr/>
        </p:nvSpPr>
        <p:spPr>
          <a:xfrm>
            <a:off x="7680960" y="3291840"/>
            <a:ext cx="3611880" cy="2468880"/>
          </a:xfrm>
          <a:prstGeom prst="rect">
            <a:avLst/>
          </a:prstGeom>
          <a:noFill/>
        </p:spPr>
        <p:txBody>
          <a:bodyPr wrap="square" anchor="t" lIns="0" rIns="0" tIns="0" bIns="0">
            <a:spAutoFit/>
          </a:bodyPr>
          <a:lstStyle/>
          <a:p>
            <a:pPr algn="l">
              <a:lnSpc>
                <a:spcPct val="130000"/>
              </a:lnSpc>
              <a:spcAft>
                <a:spcPts val="0"/>
              </a:spcAft>
            </a:pPr>
            <a:r>
              <a:rPr sz="1250" b="0" i="0">
                <a:solidFill>
                  <a:srgbClr val="FFFFFF"/>
                </a:solidFill>
                <a:latin typeface="Calibri"/>
              </a:rPr>
              <a:t>Gewählt für diese Proof-of-Concept-Migration, da:</a:t>
            </a:r>
            <a:br/>
            <a:r>
              <a:rPr sz="1250" b="0" i="0">
                <a:solidFill>
                  <a:srgbClr val="FFFFFF"/>
                </a:solidFill>
                <a:latin typeface="Calibri"/>
              </a:rPr>
              <a:t>• Aufwand gering bleibt</a:t>
            </a:r>
            <a:br/>
            <a:r>
              <a:rPr sz="1250" b="0" i="0">
                <a:solidFill>
                  <a:srgbClr val="FFFFFF"/>
                </a:solidFill>
                <a:latin typeface="Calibri"/>
              </a:rPr>
              <a:t>• Migration in kontrollierter Umgebung erfolgt</a:t>
            </a:r>
            <a:br/>
            <a:r>
              <a:rPr sz="1250" b="0" i="0">
                <a:solidFill>
                  <a:srgbClr val="FFFFFF"/>
                </a:solidFill>
                <a:latin typeface="Calibri"/>
              </a:rPr>
              <a:t>• kein Parallelbetrieb nötig ist</a:t>
            </a:r>
            <a:br/>
            <a:r>
              <a:rPr sz="1250" b="0" i="0">
                <a:solidFill>
                  <a:srgbClr val="FFFFFF"/>
                </a:solidFill>
                <a:latin typeface="Calibri"/>
              </a:rPr>
              <a:t>• nach Migration umfassend validiert wird</a:t>
            </a:r>
          </a:p>
        </p:txBody>
      </p:sp>
      <p:sp>
        <p:nvSpPr>
          <p:cNvPr id="9" name="TextBox 8"/>
          <p:cNvSpPr txBox="1"/>
          <p:nvPr/>
        </p:nvSpPr>
        <p:spPr>
          <a:xfrm>
            <a:off x="640080" y="4526280"/>
            <a:ext cx="6400800" cy="1371600"/>
          </a:xfrm>
          <a:prstGeom prst="rect">
            <a:avLst/>
          </a:prstGeom>
          <a:noFill/>
        </p:spPr>
        <p:txBody>
          <a:bodyPr wrap="square" anchor="t" lIns="0" rIns="0" tIns="0" bIns="0">
            <a:spAutoFit/>
          </a:bodyPr>
          <a:lstStyle/>
          <a:p>
            <a:pPr algn="l">
              <a:lnSpc>
                <a:spcPct val="125000"/>
              </a:lnSpc>
              <a:spcAft>
                <a:spcPts val="0"/>
              </a:spcAft>
            </a:pPr>
            <a:r>
              <a:rPr sz="1250" b="0" i="1">
                <a:solidFill>
                  <a:srgbClr val="5B6B7C"/>
                </a:solidFill>
                <a:latin typeface="Calibri"/>
              </a:rPr>
              <a:t>Beim Big Bang wird das alte System vollständig abgeschaltet und direkt durch PostgreSQL ersetzt – schneller, aber mit höherem Risiko bei Problemen während der Umstellung.</a:t>
            </a:r>
          </a:p>
        </p:txBody>
      </p:sp>
      <p:sp>
        <p:nvSpPr>
          <p:cNvPr id="10" name="TextBox 9"/>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TECHNISCHE UMSETZUNG</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Datenmapping: MariaDB → PostgreSQL</a:t>
            </a:r>
          </a:p>
        </p:txBody>
      </p:sp>
      <p:graphicFrame>
        <p:nvGraphicFramePr>
          <p:cNvPr id="4" name="Table 3"/>
          <p:cNvGraphicFramePr>
            <a:graphicFrameLocks noGrp="1"/>
          </p:cNvGraphicFramePr>
          <p:nvPr/>
        </p:nvGraphicFramePr>
        <p:xfrm>
          <a:off x="640080" y="1828800"/>
          <a:ext cx="5120640" cy="3108960"/>
        </p:xfrm>
        <a:graphic>
          <a:graphicData uri="http://schemas.openxmlformats.org/drawingml/2006/table">
            <a:tbl>
              <a:tblPr firstRow="1" bandRow="1">
                <a:tableStyleId>{5C22544A-7EE6-4342-B048-85BDC9FD1C3A}</a:tableStyleId>
              </a:tblPr>
              <a:tblGrid>
                <a:gridCol w="2560320"/>
                <a:gridCol w="2560320"/>
              </a:tblGrid>
              <a:tr h="444137">
                <a:tc>
                  <a:txBody>
                    <a:bodyPr/>
                    <a:lstStyle/>
                    <a:p>
                      <a:pPr algn="l"/>
                      <a:r>
                        <a:rPr sz="1250" b="1">
                          <a:solidFill>
                            <a:srgbClr val="FFFFFF"/>
                          </a:solidFill>
                          <a:latin typeface="Calibri"/>
                        </a:rPr>
                        <a:t>MariaDB</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250" b="1">
                          <a:solidFill>
                            <a:srgbClr val="FFFFFF"/>
                          </a:solidFill>
                          <a:latin typeface="Calibri"/>
                        </a:rPr>
                        <a:t>PostgreSQL</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7">
                <a:tc>
                  <a:txBody>
                    <a:bodyPr/>
                    <a:lstStyle/>
                    <a:p>
                      <a:pPr algn="l"/>
                      <a:r>
                        <a:rPr sz="1350" b="0">
                          <a:solidFill>
                            <a:srgbClr val="1E2633"/>
                          </a:solidFill>
                          <a:latin typeface="Calibri"/>
                        </a:rPr>
                        <a:t>INT</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INTEGER</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7">
                <a:tc>
                  <a:txBody>
                    <a:bodyPr/>
                    <a:lstStyle/>
                    <a:p>
                      <a:pPr algn="l"/>
                      <a:r>
                        <a:rPr sz="1350" b="0">
                          <a:solidFill>
                            <a:srgbClr val="1E2633"/>
                          </a:solidFill>
                          <a:latin typeface="Calibri"/>
                        </a:rPr>
                        <a:t>AUTO_INCREMENT</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SERIAL</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7">
                <a:tc>
                  <a:txBody>
                    <a:bodyPr/>
                    <a:lstStyle/>
                    <a:p>
                      <a:pPr algn="l"/>
                      <a:r>
                        <a:rPr sz="1350" b="0">
                          <a:solidFill>
                            <a:srgbClr val="1E2633"/>
                          </a:solidFill>
                          <a:latin typeface="Calibri"/>
                        </a:rPr>
                        <a:t>DATETIME</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TIMESTAMP</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7">
                <a:tc>
                  <a:txBody>
                    <a:bodyPr/>
                    <a:lstStyle/>
                    <a:p>
                      <a:pPr algn="l"/>
                      <a:r>
                        <a:rPr sz="1350" b="0">
                          <a:solidFill>
                            <a:srgbClr val="1E2633"/>
                          </a:solidFill>
                          <a:latin typeface="Calibri"/>
                        </a:rPr>
                        <a:t>TINYINT(1)</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BOOLEAN</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7">
                <a:tc>
                  <a:txBody>
                    <a:bodyPr/>
                    <a:lstStyle/>
                    <a:p>
                      <a:pPr algn="l"/>
                      <a:r>
                        <a:rPr sz="1350" b="0">
                          <a:solidFill>
                            <a:srgbClr val="1E2633"/>
                          </a:solidFill>
                          <a:latin typeface="Calibri"/>
                        </a:rPr>
                        <a:t>DECIMAL</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NUMERIC</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44138">
                <a:tc>
                  <a:txBody>
                    <a:bodyPr/>
                    <a:lstStyle/>
                    <a:p>
                      <a:pPr algn="l"/>
                      <a:r>
                        <a:rPr sz="1350" b="0">
                          <a:solidFill>
                            <a:srgbClr val="1E2633"/>
                          </a:solidFill>
                          <a:latin typeface="Calibri"/>
                        </a:rPr>
                        <a:t>BLOB</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350" b="0">
                          <a:solidFill>
                            <a:srgbClr val="1E2633"/>
                          </a:solidFill>
                          <a:latin typeface="Calibri"/>
                        </a:rPr>
                        <a:t>BYTEA</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bl>
          </a:graphicData>
        </a:graphic>
      </p:graphicFrame>
      <p:sp>
        <p:nvSpPr>
          <p:cNvPr id="5" name="Rounded Rectangle 4"/>
          <p:cNvSpPr/>
          <p:nvPr/>
        </p:nvSpPr>
        <p:spPr>
          <a:xfrm>
            <a:off x="6263640" y="1828800"/>
            <a:ext cx="5303520" cy="4160520"/>
          </a:xfrm>
          <a:prstGeom prst="roundRect">
            <a:avLst>
              <a:gd name="adj" fmla="val 6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2103120"/>
            <a:ext cx="4572000" cy="457200"/>
          </a:xfrm>
          <a:prstGeom prst="rect">
            <a:avLst/>
          </a:prstGeom>
          <a:noFill/>
        </p:spPr>
        <p:txBody>
          <a:bodyPr wrap="square" anchor="t" lIns="0" rIns="0" tIns="0" bIns="0">
            <a:spAutoFit/>
          </a:bodyPr>
          <a:lstStyle/>
          <a:p>
            <a:pPr algn="l">
              <a:lnSpc>
                <a:spcPct val="100000"/>
              </a:lnSpc>
              <a:spcAft>
                <a:spcPts val="0"/>
              </a:spcAft>
            </a:pPr>
            <a:r>
              <a:rPr sz="1550" b="1" i="0">
                <a:solidFill>
                  <a:srgbClr val="21295C"/>
                </a:solidFill>
                <a:latin typeface="Calibri"/>
              </a:rPr>
              <a:t>Validierung nach der Migration</a:t>
            </a:r>
          </a:p>
        </p:txBody>
      </p:sp>
      <p:sp>
        <p:nvSpPr>
          <p:cNvPr id="7" name="Oval 6"/>
          <p:cNvSpPr/>
          <p:nvPr/>
        </p:nvSpPr>
        <p:spPr>
          <a:xfrm>
            <a:off x="6720840" y="2770632"/>
            <a:ext cx="457200" cy="45720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a:t>
            </a:r>
          </a:p>
        </p:txBody>
      </p:sp>
      <p:sp>
        <p:nvSpPr>
          <p:cNvPr id="8" name="TextBox 7"/>
          <p:cNvSpPr txBox="1"/>
          <p:nvPr/>
        </p:nvSpPr>
        <p:spPr>
          <a:xfrm>
            <a:off x="7406640" y="2743200"/>
            <a:ext cx="3931920" cy="320040"/>
          </a:xfrm>
          <a:prstGeom prst="rect">
            <a:avLst/>
          </a:prstGeom>
          <a:noFill/>
        </p:spPr>
        <p:txBody>
          <a:bodyPr wrap="square" anchor="t" lIns="0" rIns="0" tIns="0" bIns="0">
            <a:spAutoFit/>
          </a:bodyPr>
          <a:lstStyle/>
          <a:p>
            <a:pPr algn="l">
              <a:lnSpc>
                <a:spcPct val="100000"/>
              </a:lnSpc>
              <a:spcAft>
                <a:spcPts val="0"/>
              </a:spcAft>
            </a:pPr>
            <a:r>
              <a:rPr sz="1350" b="1" i="0">
                <a:solidFill>
                  <a:srgbClr val="1E2633"/>
                </a:solidFill>
                <a:latin typeface="Calibri"/>
              </a:rPr>
              <a:t>Count-Abfragen</a:t>
            </a:r>
          </a:p>
        </p:txBody>
      </p:sp>
      <p:sp>
        <p:nvSpPr>
          <p:cNvPr id="9" name="TextBox 8"/>
          <p:cNvSpPr txBox="1"/>
          <p:nvPr/>
        </p:nvSpPr>
        <p:spPr>
          <a:xfrm>
            <a:off x="7406640" y="3063240"/>
            <a:ext cx="3931920" cy="457200"/>
          </a:xfrm>
          <a:prstGeom prst="rect">
            <a:avLst/>
          </a:prstGeom>
          <a:noFill/>
        </p:spPr>
        <p:txBody>
          <a:bodyPr wrap="square" anchor="t" lIns="0" rIns="0" tIns="0" bIns="0">
            <a:spAutoFit/>
          </a:bodyPr>
          <a:lstStyle/>
          <a:p>
            <a:pPr algn="l">
              <a:lnSpc>
                <a:spcPct val="100000"/>
              </a:lnSpc>
              <a:spcAft>
                <a:spcPts val="0"/>
              </a:spcAft>
            </a:pPr>
            <a:r>
              <a:rPr sz="1150" b="0" i="0">
                <a:solidFill>
                  <a:srgbClr val="5B6B7C"/>
                </a:solidFill>
                <a:latin typeface="Calibri"/>
              </a:rPr>
              <a:t>Anzahl Datensätze je Tabelle abgeglichen</a:t>
            </a:r>
          </a:p>
        </p:txBody>
      </p:sp>
      <p:sp>
        <p:nvSpPr>
          <p:cNvPr id="10" name="Oval 9"/>
          <p:cNvSpPr/>
          <p:nvPr/>
        </p:nvSpPr>
        <p:spPr>
          <a:xfrm>
            <a:off x="6720840" y="3730752"/>
            <a:ext cx="457200" cy="45720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a:t>
            </a:r>
          </a:p>
        </p:txBody>
      </p:sp>
      <p:sp>
        <p:nvSpPr>
          <p:cNvPr id="11" name="TextBox 10"/>
          <p:cNvSpPr txBox="1"/>
          <p:nvPr/>
        </p:nvSpPr>
        <p:spPr>
          <a:xfrm>
            <a:off x="7406640" y="3703320"/>
            <a:ext cx="3931920" cy="320040"/>
          </a:xfrm>
          <a:prstGeom prst="rect">
            <a:avLst/>
          </a:prstGeom>
          <a:noFill/>
        </p:spPr>
        <p:txBody>
          <a:bodyPr wrap="square" anchor="t" lIns="0" rIns="0" tIns="0" bIns="0">
            <a:spAutoFit/>
          </a:bodyPr>
          <a:lstStyle/>
          <a:p>
            <a:pPr algn="l">
              <a:lnSpc>
                <a:spcPct val="100000"/>
              </a:lnSpc>
              <a:spcAft>
                <a:spcPts val="0"/>
              </a:spcAft>
            </a:pPr>
            <a:r>
              <a:rPr sz="1350" b="1" i="0">
                <a:solidFill>
                  <a:srgbClr val="1E2633"/>
                </a:solidFill>
                <a:latin typeface="Calibri"/>
              </a:rPr>
              <a:t>Duplicate-Check</a:t>
            </a:r>
          </a:p>
        </p:txBody>
      </p:sp>
      <p:sp>
        <p:nvSpPr>
          <p:cNvPr id="12" name="TextBox 11"/>
          <p:cNvSpPr txBox="1"/>
          <p:nvPr/>
        </p:nvSpPr>
        <p:spPr>
          <a:xfrm>
            <a:off x="7406640" y="4023359"/>
            <a:ext cx="3931920" cy="457200"/>
          </a:xfrm>
          <a:prstGeom prst="rect">
            <a:avLst/>
          </a:prstGeom>
          <a:noFill/>
        </p:spPr>
        <p:txBody>
          <a:bodyPr wrap="square" anchor="t" lIns="0" rIns="0" tIns="0" bIns="0">
            <a:spAutoFit/>
          </a:bodyPr>
          <a:lstStyle/>
          <a:p>
            <a:pPr algn="l">
              <a:lnSpc>
                <a:spcPct val="100000"/>
              </a:lnSpc>
              <a:spcAft>
                <a:spcPts val="0"/>
              </a:spcAft>
            </a:pPr>
            <a:r>
              <a:rPr sz="1150" b="0" i="0">
                <a:solidFill>
                  <a:srgbClr val="5B6B7C"/>
                </a:solidFill>
                <a:latin typeface="Calibri"/>
              </a:rPr>
              <a:t>Prüfung auf doppelte Datensätze</a:t>
            </a:r>
          </a:p>
        </p:txBody>
      </p:sp>
      <p:sp>
        <p:nvSpPr>
          <p:cNvPr id="13" name="Oval 12"/>
          <p:cNvSpPr/>
          <p:nvPr/>
        </p:nvSpPr>
        <p:spPr>
          <a:xfrm>
            <a:off x="6720840" y="4690872"/>
            <a:ext cx="457200" cy="45720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a:t>
            </a:r>
          </a:p>
        </p:txBody>
      </p:sp>
      <p:sp>
        <p:nvSpPr>
          <p:cNvPr id="14" name="TextBox 13"/>
          <p:cNvSpPr txBox="1"/>
          <p:nvPr/>
        </p:nvSpPr>
        <p:spPr>
          <a:xfrm>
            <a:off x="7406640" y="4663440"/>
            <a:ext cx="3931920" cy="320040"/>
          </a:xfrm>
          <a:prstGeom prst="rect">
            <a:avLst/>
          </a:prstGeom>
          <a:noFill/>
        </p:spPr>
        <p:txBody>
          <a:bodyPr wrap="square" anchor="t" lIns="0" rIns="0" tIns="0" bIns="0">
            <a:spAutoFit/>
          </a:bodyPr>
          <a:lstStyle/>
          <a:p>
            <a:pPr algn="l">
              <a:lnSpc>
                <a:spcPct val="100000"/>
              </a:lnSpc>
              <a:spcAft>
                <a:spcPts val="0"/>
              </a:spcAft>
            </a:pPr>
            <a:r>
              <a:rPr sz="1350" b="1" i="0">
                <a:solidFill>
                  <a:srgbClr val="1E2633"/>
                </a:solidFill>
                <a:latin typeface="Calibri"/>
              </a:rPr>
              <a:t>Fremdschlüssel-Check</a:t>
            </a:r>
          </a:p>
        </p:txBody>
      </p:sp>
      <p:sp>
        <p:nvSpPr>
          <p:cNvPr id="15" name="TextBox 14"/>
          <p:cNvSpPr txBox="1"/>
          <p:nvPr/>
        </p:nvSpPr>
        <p:spPr>
          <a:xfrm>
            <a:off x="7406640" y="4983479"/>
            <a:ext cx="3931920" cy="457200"/>
          </a:xfrm>
          <a:prstGeom prst="rect">
            <a:avLst/>
          </a:prstGeom>
          <a:noFill/>
        </p:spPr>
        <p:txBody>
          <a:bodyPr wrap="square" anchor="t" lIns="0" rIns="0" tIns="0" bIns="0">
            <a:spAutoFit/>
          </a:bodyPr>
          <a:lstStyle/>
          <a:p>
            <a:pPr algn="l">
              <a:lnSpc>
                <a:spcPct val="100000"/>
              </a:lnSpc>
              <a:spcAft>
                <a:spcPts val="0"/>
              </a:spcAft>
            </a:pPr>
            <a:r>
              <a:rPr sz="1150" b="0" i="0">
                <a:solidFill>
                  <a:srgbClr val="5B6B7C"/>
                </a:solidFill>
                <a:latin typeface="Calibri"/>
              </a:rPr>
              <a:t>Referenzielle Integrität kontrolliert</a:t>
            </a:r>
          </a:p>
        </p:txBody>
      </p:sp>
      <p:sp>
        <p:nvSpPr>
          <p:cNvPr id="16" name="TextBox 15"/>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ERGEBNISSE</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Vorher / Nachher im Vergleich</a:t>
            </a:r>
          </a:p>
        </p:txBody>
      </p:sp>
      <p:graphicFrame>
        <p:nvGraphicFramePr>
          <p:cNvPr id="4" name="Table 3"/>
          <p:cNvGraphicFramePr>
            <a:graphicFrameLocks noGrp="1"/>
          </p:cNvGraphicFramePr>
          <p:nvPr/>
        </p:nvGraphicFramePr>
        <p:xfrm>
          <a:off x="640080" y="1783080"/>
          <a:ext cx="10881360" cy="2286000"/>
        </p:xfrm>
        <a:graphic>
          <a:graphicData uri="http://schemas.openxmlformats.org/drawingml/2006/table">
            <a:tbl>
              <a:tblPr firstRow="1" bandRow="1">
                <a:tableStyleId>{5C22544A-7EE6-4342-B048-85BDC9FD1C3A}</a:tableStyleId>
              </a:tblPr>
              <a:tblGrid>
                <a:gridCol w="2743200"/>
                <a:gridCol w="4069080"/>
                <a:gridCol w="4069080"/>
              </a:tblGrid>
              <a:tr h="457200">
                <a:tc>
                  <a:txBody>
                    <a:bodyPr/>
                    <a:lstStyle/>
                    <a:p>
                      <a:pPr algn="l"/>
                      <a:r>
                        <a:rPr sz="1400" b="1">
                          <a:solidFill>
                            <a:srgbClr val="FFFFFF"/>
                          </a:solidFill>
                          <a:latin typeface="Calibri"/>
                        </a:rPr>
                        <a:t>Kriterium</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1">
                          <a:solidFill>
                            <a:srgbClr val="FFFFFF"/>
                          </a:solidFill>
                          <a:latin typeface="Calibri"/>
                        </a:rPr>
                        <a:t>Vorher (MariaDB)</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1">
                          <a:solidFill>
                            <a:srgbClr val="FFFFFF"/>
                          </a:solidFill>
                          <a:latin typeface="Calibri"/>
                        </a:rPr>
                        <a:t>Nachher (PostgreSQL)</a:t>
                      </a:r>
                    </a:p>
                  </a:txBody>
                  <a:tcPr marL="109728" marR="109728" marT="54864" marB="54864" anchor="ctr">
                    <a:solidFill>
                      <a:srgbClr val="065A82"/>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57200">
                <a:tc>
                  <a:txBody>
                    <a:bodyPr/>
                    <a:lstStyle/>
                    <a:p>
                      <a:pPr algn="l"/>
                      <a:r>
                        <a:rPr sz="1400" b="0">
                          <a:solidFill>
                            <a:srgbClr val="1E2633"/>
                          </a:solidFill>
                          <a:latin typeface="Calibri"/>
                        </a:rPr>
                        <a:t>Datenbank</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MariaDB 10.6</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PostgreSQL 16</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57200">
                <a:tc>
                  <a:txBody>
                    <a:bodyPr/>
                    <a:lstStyle/>
                    <a:p>
                      <a:pPr algn="l"/>
                      <a:r>
                        <a:rPr sz="1400" b="0">
                          <a:solidFill>
                            <a:srgbClr val="1E2633"/>
                          </a:solidFill>
                          <a:latin typeface="Calibri"/>
                        </a:rPr>
                        <a:t>Stabilität</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Gut</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Sehr gut</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57200">
                <a:tc>
                  <a:txBody>
                    <a:bodyPr/>
                    <a:lstStyle/>
                    <a:p>
                      <a:pPr algn="l"/>
                      <a:r>
                        <a:rPr sz="1400" b="0">
                          <a:solidFill>
                            <a:srgbClr val="1E2633"/>
                          </a:solidFill>
                          <a:latin typeface="Calibri"/>
                        </a:rPr>
                        <a:t>Erweiterbarkeit</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Mittel</a:t>
                      </a:r>
                    </a:p>
                  </a:txBody>
                  <a:tcPr marL="109728" marR="109728" marT="54864" marB="54864" anchor="ctr">
                    <a:solidFill>
                      <a:srgbClr val="FFFFFF"/>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Sehr gut</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r h="457200">
                <a:tc>
                  <a:txBody>
                    <a:bodyPr/>
                    <a:lstStyle/>
                    <a:p>
                      <a:pPr algn="l"/>
                      <a:r>
                        <a:rPr sz="1400" b="0">
                          <a:solidFill>
                            <a:srgbClr val="1E2633"/>
                          </a:solidFill>
                          <a:latin typeface="Calibri"/>
                        </a:rPr>
                        <a:t>Moderne Features</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a:t>
                      </a:r>
                    </a:p>
                  </a:txBody>
                  <a:tcPr marL="109728" marR="109728" marT="54864" marB="54864" anchor="ctr">
                    <a:solidFill>
                      <a:srgbClr val="F4F7FA"/>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c>
                  <a:txBody>
                    <a:bodyPr/>
                    <a:lstStyle/>
                    <a:p>
                      <a:pPr algn="l"/>
                      <a:r>
                        <a:rPr sz="1400" b="0">
                          <a:solidFill>
                            <a:srgbClr val="1E2633"/>
                          </a:solidFill>
                          <a:latin typeface="Calibri"/>
                        </a:rPr>
                        <a:t>JSONB, CTEs, erw. Indizes</a:t>
                      </a:r>
                    </a:p>
                  </a:txBody>
                  <a:tcPr marL="109728" marR="109728" marT="54864" marB="54864" anchor="ctr">
                    <a:solidFill>
                      <a:srgbClr val="D9F2EC"/>
                    </a:solidFill>
                    <a:lnL w="3175" cap="flat">
                      <a:solidFill>
                        <a:srgbClr val="D7DEE5"/>
                      </a:solidFill>
                    </a:lnL>
                    <a:lnR w="3175" cap="flat">
                      <a:solidFill>
                        <a:srgbClr val="D7DEE5"/>
                      </a:solidFill>
                    </a:lnR>
                    <a:lnT w="3175" cap="flat">
                      <a:solidFill>
                        <a:srgbClr val="D7DEE5"/>
                      </a:solidFill>
                    </a:lnT>
                    <a:lnB w="3175" cap="flat">
                      <a:solidFill>
                        <a:srgbClr val="D7DEE5"/>
                      </a:solidFill>
                    </a:lnB>
                  </a:tcPr>
                </a:tc>
              </a:tr>
            </a:tbl>
          </a:graphicData>
        </a:graphic>
      </p:graphicFrame>
      <p:sp>
        <p:nvSpPr>
          <p:cNvPr id="5" name="Rounded Rectangle 4"/>
          <p:cNvSpPr/>
          <p:nvPr/>
        </p:nvSpPr>
        <p:spPr>
          <a:xfrm>
            <a:off x="640080" y="4434840"/>
            <a:ext cx="10881360" cy="1691640"/>
          </a:xfrm>
          <a:prstGeom prst="roundRect">
            <a:avLst>
              <a:gd name="adj" fmla="val 6000"/>
            </a:avLst>
          </a:prstGeom>
          <a:solidFill>
            <a:srgbClr val="21295C"/>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663440"/>
            <a:ext cx="45720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02C39A"/>
                </a:solidFill>
                <a:latin typeface="Calibri"/>
              </a:rPr>
              <a:t>Fazit</a:t>
            </a:r>
          </a:p>
        </p:txBody>
      </p:sp>
      <p:sp>
        <p:nvSpPr>
          <p:cNvPr id="7" name="TextBox 6"/>
          <p:cNvSpPr txBox="1"/>
          <p:nvPr/>
        </p:nvSpPr>
        <p:spPr>
          <a:xfrm>
            <a:off x="960120" y="5029200"/>
            <a:ext cx="4937760" cy="960120"/>
          </a:xfrm>
          <a:prstGeom prst="rect">
            <a:avLst/>
          </a:prstGeom>
          <a:noFill/>
        </p:spPr>
        <p:txBody>
          <a:bodyPr wrap="square" anchor="t" lIns="0" rIns="0" tIns="0" bIns="0">
            <a:spAutoFit/>
          </a:bodyPr>
          <a:lstStyle/>
          <a:p>
            <a:pPr algn="l">
              <a:lnSpc>
                <a:spcPct val="120000"/>
              </a:lnSpc>
              <a:spcAft>
                <a:spcPts val="0"/>
              </a:spcAft>
            </a:pPr>
            <a:r>
              <a:rPr sz="1350" b="0" i="0">
                <a:solidFill>
                  <a:srgbClr val="FFFFFF"/>
                </a:solidFill>
                <a:latin typeface="Calibri"/>
              </a:rPr>
              <a:t>Alle Daten wurden erfolgreich migriert und vollständig validiert.</a:t>
            </a:r>
          </a:p>
        </p:txBody>
      </p:sp>
      <p:sp>
        <p:nvSpPr>
          <p:cNvPr id="8" name="Oval 7"/>
          <p:cNvSpPr/>
          <p:nvPr/>
        </p:nvSpPr>
        <p:spPr>
          <a:xfrm>
            <a:off x="5843016" y="5093208"/>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1295C"/>
                </a:solidFill>
                <a:latin typeface="Calibri"/>
              </a:rPr>
              <a:t>✓</a:t>
            </a:r>
          </a:p>
        </p:txBody>
      </p:sp>
      <p:sp>
        <p:nvSpPr>
          <p:cNvPr id="9" name="TextBox 8"/>
          <p:cNvSpPr txBox="1"/>
          <p:nvPr/>
        </p:nvSpPr>
        <p:spPr>
          <a:xfrm>
            <a:off x="6309359" y="5120640"/>
            <a:ext cx="2011680" cy="365760"/>
          </a:xfrm>
          <a:prstGeom prst="rect">
            <a:avLst/>
          </a:prstGeom>
          <a:noFill/>
        </p:spPr>
        <p:txBody>
          <a:bodyPr wrap="square" anchor="t" lIns="0" rIns="0" tIns="0" bIns="0">
            <a:spAutoFit/>
          </a:bodyPr>
          <a:lstStyle/>
          <a:p>
            <a:pPr algn="l">
              <a:lnSpc>
                <a:spcPct val="100000"/>
              </a:lnSpc>
              <a:spcAft>
                <a:spcPts val="0"/>
              </a:spcAft>
            </a:pPr>
            <a:r>
              <a:rPr sz="1250" b="1" i="0">
                <a:solidFill>
                  <a:srgbClr val="FFFFFF"/>
                </a:solidFill>
                <a:latin typeface="Calibri"/>
              </a:rPr>
              <a:t>Integrationstests</a:t>
            </a:r>
          </a:p>
        </p:txBody>
      </p:sp>
      <p:sp>
        <p:nvSpPr>
          <p:cNvPr id="10" name="TextBox 9"/>
          <p:cNvSpPr txBox="1"/>
          <p:nvPr/>
        </p:nvSpPr>
        <p:spPr>
          <a:xfrm>
            <a:off x="6309359" y="5440680"/>
            <a:ext cx="2011680" cy="320040"/>
          </a:xfrm>
          <a:prstGeom prst="rect">
            <a:avLst/>
          </a:prstGeom>
          <a:noFill/>
        </p:spPr>
        <p:txBody>
          <a:bodyPr wrap="square" anchor="t" lIns="0" rIns="0" tIns="0" bIns="0">
            <a:spAutoFit/>
          </a:bodyPr>
          <a:lstStyle/>
          <a:p>
            <a:pPr algn="l">
              <a:lnSpc>
                <a:spcPct val="100000"/>
              </a:lnSpc>
              <a:spcAft>
                <a:spcPts val="0"/>
              </a:spcAft>
            </a:pPr>
            <a:r>
              <a:rPr sz="1100" b="0" i="0">
                <a:solidFill>
                  <a:srgbClr val="CADCFC"/>
                </a:solidFill>
                <a:latin typeface="Calibri"/>
              </a:rPr>
              <a:t>bestanden</a:t>
            </a:r>
          </a:p>
        </p:txBody>
      </p:sp>
      <p:sp>
        <p:nvSpPr>
          <p:cNvPr id="11" name="Oval 10"/>
          <p:cNvSpPr/>
          <p:nvPr/>
        </p:nvSpPr>
        <p:spPr>
          <a:xfrm>
            <a:off x="7671815" y="5093208"/>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1295C"/>
                </a:solidFill>
                <a:latin typeface="Calibri"/>
              </a:rPr>
              <a:t>✓</a:t>
            </a:r>
          </a:p>
        </p:txBody>
      </p:sp>
      <p:sp>
        <p:nvSpPr>
          <p:cNvPr id="12" name="TextBox 11"/>
          <p:cNvSpPr txBox="1"/>
          <p:nvPr/>
        </p:nvSpPr>
        <p:spPr>
          <a:xfrm>
            <a:off x="8138160" y="5120640"/>
            <a:ext cx="2011680" cy="365760"/>
          </a:xfrm>
          <a:prstGeom prst="rect">
            <a:avLst/>
          </a:prstGeom>
          <a:noFill/>
        </p:spPr>
        <p:txBody>
          <a:bodyPr wrap="square" anchor="t" lIns="0" rIns="0" tIns="0" bIns="0">
            <a:spAutoFit/>
          </a:bodyPr>
          <a:lstStyle/>
          <a:p>
            <a:pPr algn="l">
              <a:lnSpc>
                <a:spcPct val="100000"/>
              </a:lnSpc>
              <a:spcAft>
                <a:spcPts val="0"/>
              </a:spcAft>
            </a:pPr>
            <a:r>
              <a:rPr sz="1250" b="1" i="0">
                <a:solidFill>
                  <a:srgbClr val="FFFFFF"/>
                </a:solidFill>
                <a:latin typeface="Calibri"/>
              </a:rPr>
              <a:t>Systemtests</a:t>
            </a:r>
          </a:p>
        </p:txBody>
      </p:sp>
      <p:sp>
        <p:nvSpPr>
          <p:cNvPr id="13" name="TextBox 12"/>
          <p:cNvSpPr txBox="1"/>
          <p:nvPr/>
        </p:nvSpPr>
        <p:spPr>
          <a:xfrm>
            <a:off x="8138160" y="5440680"/>
            <a:ext cx="2011680" cy="320040"/>
          </a:xfrm>
          <a:prstGeom prst="rect">
            <a:avLst/>
          </a:prstGeom>
          <a:noFill/>
        </p:spPr>
        <p:txBody>
          <a:bodyPr wrap="square" anchor="t" lIns="0" rIns="0" tIns="0" bIns="0">
            <a:spAutoFit/>
          </a:bodyPr>
          <a:lstStyle/>
          <a:p>
            <a:pPr algn="l">
              <a:lnSpc>
                <a:spcPct val="100000"/>
              </a:lnSpc>
              <a:spcAft>
                <a:spcPts val="0"/>
              </a:spcAft>
            </a:pPr>
            <a:r>
              <a:rPr sz="1100" b="0" i="0">
                <a:solidFill>
                  <a:srgbClr val="CADCFC"/>
                </a:solidFill>
                <a:latin typeface="Calibri"/>
              </a:rPr>
              <a:t>bestanden</a:t>
            </a:r>
          </a:p>
        </p:txBody>
      </p:sp>
      <p:sp>
        <p:nvSpPr>
          <p:cNvPr id="14" name="Oval 13"/>
          <p:cNvSpPr/>
          <p:nvPr/>
        </p:nvSpPr>
        <p:spPr>
          <a:xfrm>
            <a:off x="9500615" y="5093208"/>
            <a:ext cx="384048" cy="384048"/>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1295C"/>
                </a:solidFill>
                <a:latin typeface="Calibri"/>
              </a:rPr>
              <a:t>✓</a:t>
            </a:r>
          </a:p>
        </p:txBody>
      </p:sp>
      <p:sp>
        <p:nvSpPr>
          <p:cNvPr id="15" name="TextBox 14"/>
          <p:cNvSpPr txBox="1"/>
          <p:nvPr/>
        </p:nvSpPr>
        <p:spPr>
          <a:xfrm>
            <a:off x="9966960" y="5120640"/>
            <a:ext cx="2011680" cy="365760"/>
          </a:xfrm>
          <a:prstGeom prst="rect">
            <a:avLst/>
          </a:prstGeom>
          <a:noFill/>
        </p:spPr>
        <p:txBody>
          <a:bodyPr wrap="square" anchor="t" lIns="0" rIns="0" tIns="0" bIns="0">
            <a:spAutoFit/>
          </a:bodyPr>
          <a:lstStyle/>
          <a:p>
            <a:pPr algn="l">
              <a:lnSpc>
                <a:spcPct val="100000"/>
              </a:lnSpc>
              <a:spcAft>
                <a:spcPts val="0"/>
              </a:spcAft>
            </a:pPr>
            <a:r>
              <a:rPr sz="1250" b="1" i="0">
                <a:solidFill>
                  <a:srgbClr val="FFFFFF"/>
                </a:solidFill>
                <a:latin typeface="Calibri"/>
              </a:rPr>
              <a:t>Abnahmetests</a:t>
            </a:r>
          </a:p>
        </p:txBody>
      </p:sp>
      <p:sp>
        <p:nvSpPr>
          <p:cNvPr id="16" name="TextBox 15"/>
          <p:cNvSpPr txBox="1"/>
          <p:nvPr/>
        </p:nvSpPr>
        <p:spPr>
          <a:xfrm>
            <a:off x="9966960" y="5440680"/>
            <a:ext cx="2011680" cy="320040"/>
          </a:xfrm>
          <a:prstGeom prst="rect">
            <a:avLst/>
          </a:prstGeom>
          <a:noFill/>
        </p:spPr>
        <p:txBody>
          <a:bodyPr wrap="square" anchor="t" lIns="0" rIns="0" tIns="0" bIns="0">
            <a:spAutoFit/>
          </a:bodyPr>
          <a:lstStyle/>
          <a:p>
            <a:pPr algn="l">
              <a:lnSpc>
                <a:spcPct val="100000"/>
              </a:lnSpc>
              <a:spcAft>
                <a:spcPts val="0"/>
              </a:spcAft>
            </a:pPr>
            <a:r>
              <a:rPr sz="1100" b="0" i="0">
                <a:solidFill>
                  <a:srgbClr val="CADCFC"/>
                </a:solidFill>
                <a:latin typeface="Calibri"/>
              </a:rPr>
              <a:t>bestanden</a:t>
            </a:r>
          </a:p>
        </p:txBody>
      </p:sp>
      <p:sp>
        <p:nvSpPr>
          <p:cNvPr id="17" name="TextBox 16"/>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HERAUSFORDERUNGEN</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Probleme und Lösungsansätze</a:t>
            </a:r>
          </a:p>
        </p:txBody>
      </p:sp>
      <p:sp>
        <p:nvSpPr>
          <p:cNvPr id="4" name="Rounded Rectangle 3"/>
          <p:cNvSpPr/>
          <p:nvPr/>
        </p:nvSpPr>
        <p:spPr>
          <a:xfrm>
            <a:off x="640080" y="1828800"/>
            <a:ext cx="10881360" cy="1828800"/>
          </a:xfrm>
          <a:prstGeom prst="roundRect">
            <a:avLst>
              <a:gd name="adj" fmla="val 6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 y="2468880"/>
            <a:ext cx="548640" cy="5486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691640" y="2029968"/>
            <a:ext cx="9509760" cy="365760"/>
          </a:xfrm>
          <a:prstGeom prst="rect">
            <a:avLst/>
          </a:prstGeom>
          <a:noFill/>
        </p:spPr>
        <p:txBody>
          <a:bodyPr wrap="square" anchor="t" lIns="0" rIns="0" tIns="0" bIns="0">
            <a:spAutoFit/>
          </a:bodyPr>
          <a:lstStyle/>
          <a:p>
            <a:pPr algn="l">
              <a:lnSpc>
                <a:spcPct val="100000"/>
              </a:lnSpc>
              <a:spcAft>
                <a:spcPts val="0"/>
              </a:spcAft>
            </a:pPr>
            <a:r>
              <a:rPr sz="1550" b="1" i="0">
                <a:solidFill>
                  <a:srgbClr val="21295C"/>
                </a:solidFill>
                <a:latin typeface="Calibri"/>
              </a:rPr>
              <a:t>Port-Problem bei pgloader</a:t>
            </a:r>
          </a:p>
        </p:txBody>
      </p:sp>
      <p:sp>
        <p:nvSpPr>
          <p:cNvPr id="7" name="TextBox 6"/>
          <p:cNvSpPr txBox="1"/>
          <p:nvPr/>
        </p:nvSpPr>
        <p:spPr>
          <a:xfrm>
            <a:off x="1691640" y="2423160"/>
            <a:ext cx="4572000" cy="320040"/>
          </a:xfrm>
          <a:prstGeom prst="rect">
            <a:avLst/>
          </a:prstGeom>
          <a:noFill/>
        </p:spPr>
        <p:txBody>
          <a:bodyPr wrap="square" anchor="t" lIns="0" rIns="0" tIns="0" bIns="0">
            <a:spAutoFit/>
          </a:bodyPr>
          <a:lstStyle/>
          <a:p>
            <a:pPr algn="l">
              <a:lnSpc>
                <a:spcPct val="100000"/>
              </a:lnSpc>
              <a:spcAft>
                <a:spcPts val="0"/>
              </a:spcAft>
            </a:pPr>
            <a:r>
              <a:rPr sz="1050" b="1" i="0">
                <a:solidFill>
                  <a:srgbClr val="C03B3B"/>
                </a:solidFill>
                <a:latin typeface="Calibri"/>
              </a:rPr>
              <a:t>PROBLEM</a:t>
            </a:r>
          </a:p>
        </p:txBody>
      </p:sp>
      <p:sp>
        <p:nvSpPr>
          <p:cNvPr id="8" name="TextBox 7"/>
          <p:cNvSpPr txBox="1"/>
          <p:nvPr/>
        </p:nvSpPr>
        <p:spPr>
          <a:xfrm>
            <a:off x="1691640" y="2697480"/>
            <a:ext cx="4572000" cy="868680"/>
          </a:xfrm>
          <a:prstGeom prst="rect">
            <a:avLst/>
          </a:prstGeom>
          <a:noFill/>
        </p:spPr>
        <p:txBody>
          <a:bodyPr wrap="square" anchor="t" lIns="0" rIns="0" tIns="0" bIns="0">
            <a:spAutoFit/>
          </a:bodyPr>
          <a:lstStyle/>
          <a:p>
            <a:pPr algn="l">
              <a:lnSpc>
                <a:spcPct val="115000"/>
              </a:lnSpc>
              <a:spcAft>
                <a:spcPts val="0"/>
              </a:spcAft>
            </a:pPr>
            <a:r>
              <a:rPr sz="1150" b="0" i="0">
                <a:solidFill>
                  <a:srgbClr val="1E2633"/>
                </a:solidFill>
                <a:latin typeface="Calibri"/>
              </a:rPr>
              <a:t>Der PostgreSQL-Container lief, doch der benötigte Port war nicht freigegeben – pgloader konnte keine Verbindung zur Zieldatenbank aufbauen.</a:t>
            </a:r>
          </a:p>
        </p:txBody>
      </p:sp>
      <p:sp>
        <p:nvSpPr>
          <p:cNvPr id="9" name="TextBox 8"/>
          <p:cNvSpPr txBox="1"/>
          <p:nvPr/>
        </p:nvSpPr>
        <p:spPr>
          <a:xfrm>
            <a:off x="6446520" y="2423160"/>
            <a:ext cx="4663440" cy="320040"/>
          </a:xfrm>
          <a:prstGeom prst="rect">
            <a:avLst/>
          </a:prstGeom>
          <a:noFill/>
        </p:spPr>
        <p:txBody>
          <a:bodyPr wrap="square" anchor="t" lIns="0" rIns="0" tIns="0" bIns="0">
            <a:spAutoFit/>
          </a:bodyPr>
          <a:lstStyle/>
          <a:p>
            <a:pPr algn="l">
              <a:lnSpc>
                <a:spcPct val="100000"/>
              </a:lnSpc>
              <a:spcAft>
                <a:spcPts val="0"/>
              </a:spcAft>
            </a:pPr>
            <a:r>
              <a:rPr sz="1050" b="1" i="0">
                <a:solidFill>
                  <a:srgbClr val="1F8A5E"/>
                </a:solidFill>
                <a:latin typeface="Calibri"/>
              </a:rPr>
              <a:t>LÖSUNG</a:t>
            </a:r>
          </a:p>
        </p:txBody>
      </p:sp>
      <p:sp>
        <p:nvSpPr>
          <p:cNvPr id="10" name="TextBox 9"/>
          <p:cNvSpPr txBox="1"/>
          <p:nvPr/>
        </p:nvSpPr>
        <p:spPr>
          <a:xfrm>
            <a:off x="6446520" y="2697480"/>
            <a:ext cx="4663440" cy="868680"/>
          </a:xfrm>
          <a:prstGeom prst="rect">
            <a:avLst/>
          </a:prstGeom>
          <a:noFill/>
        </p:spPr>
        <p:txBody>
          <a:bodyPr wrap="square" anchor="t" lIns="0" rIns="0" tIns="0" bIns="0">
            <a:spAutoFit/>
          </a:bodyPr>
          <a:lstStyle/>
          <a:p>
            <a:pPr algn="l">
              <a:lnSpc>
                <a:spcPct val="115000"/>
              </a:lnSpc>
              <a:spcAft>
                <a:spcPts val="0"/>
              </a:spcAft>
            </a:pPr>
            <a:r>
              <a:rPr sz="1150" b="0" i="0">
                <a:solidFill>
                  <a:srgbClr val="1E2633"/>
                </a:solidFill>
                <a:latin typeface="Calibri"/>
              </a:rPr>
              <a:t>Docker-Konfiguration analysiert und das Port-Mapping korrekt angepasst. Danach liess sich die Verbindung erfolgreich herstellen.</a:t>
            </a:r>
          </a:p>
        </p:txBody>
      </p:sp>
      <p:sp>
        <p:nvSpPr>
          <p:cNvPr id="11" name="Rounded Rectangle 10"/>
          <p:cNvSpPr/>
          <p:nvPr/>
        </p:nvSpPr>
        <p:spPr>
          <a:xfrm>
            <a:off x="640080" y="3931920"/>
            <a:ext cx="10881360" cy="1828800"/>
          </a:xfrm>
          <a:prstGeom prst="roundRect">
            <a:avLst>
              <a:gd name="adj" fmla="val 6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4572000"/>
            <a:ext cx="548640" cy="5486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3" name="TextBox 12"/>
          <p:cNvSpPr txBox="1"/>
          <p:nvPr/>
        </p:nvSpPr>
        <p:spPr>
          <a:xfrm>
            <a:off x="1691640" y="4133087"/>
            <a:ext cx="9509760" cy="365760"/>
          </a:xfrm>
          <a:prstGeom prst="rect">
            <a:avLst/>
          </a:prstGeom>
          <a:noFill/>
        </p:spPr>
        <p:txBody>
          <a:bodyPr wrap="square" anchor="t" lIns="0" rIns="0" tIns="0" bIns="0">
            <a:spAutoFit/>
          </a:bodyPr>
          <a:lstStyle/>
          <a:p>
            <a:pPr algn="l">
              <a:lnSpc>
                <a:spcPct val="100000"/>
              </a:lnSpc>
              <a:spcAft>
                <a:spcPts val="0"/>
              </a:spcAft>
            </a:pPr>
            <a:r>
              <a:rPr sz="1550" b="1" i="0">
                <a:solidFill>
                  <a:srgbClr val="21295C"/>
                </a:solidFill>
                <a:latin typeface="Calibri"/>
              </a:rPr>
              <a:t>Inkompatibles Docker-Image</a:t>
            </a:r>
          </a:p>
        </p:txBody>
      </p:sp>
      <p:sp>
        <p:nvSpPr>
          <p:cNvPr id="14" name="TextBox 13"/>
          <p:cNvSpPr txBox="1"/>
          <p:nvPr/>
        </p:nvSpPr>
        <p:spPr>
          <a:xfrm>
            <a:off x="1691640" y="4526280"/>
            <a:ext cx="4572000" cy="320040"/>
          </a:xfrm>
          <a:prstGeom prst="rect">
            <a:avLst/>
          </a:prstGeom>
          <a:noFill/>
        </p:spPr>
        <p:txBody>
          <a:bodyPr wrap="square" anchor="t" lIns="0" rIns="0" tIns="0" bIns="0">
            <a:spAutoFit/>
          </a:bodyPr>
          <a:lstStyle/>
          <a:p>
            <a:pPr algn="l">
              <a:lnSpc>
                <a:spcPct val="100000"/>
              </a:lnSpc>
              <a:spcAft>
                <a:spcPts val="0"/>
              </a:spcAft>
            </a:pPr>
            <a:r>
              <a:rPr sz="1050" b="1" i="0">
                <a:solidFill>
                  <a:srgbClr val="C03B3B"/>
                </a:solidFill>
                <a:latin typeface="Calibri"/>
              </a:rPr>
              <a:t>PROBLEM</a:t>
            </a:r>
          </a:p>
        </p:txBody>
      </p:sp>
      <p:sp>
        <p:nvSpPr>
          <p:cNvPr id="15" name="TextBox 14"/>
          <p:cNvSpPr txBox="1"/>
          <p:nvPr/>
        </p:nvSpPr>
        <p:spPr>
          <a:xfrm>
            <a:off x="1691640" y="4800600"/>
            <a:ext cx="4572000" cy="868680"/>
          </a:xfrm>
          <a:prstGeom prst="rect">
            <a:avLst/>
          </a:prstGeom>
          <a:noFill/>
        </p:spPr>
        <p:txBody>
          <a:bodyPr wrap="square" anchor="t" lIns="0" rIns="0" tIns="0" bIns="0">
            <a:spAutoFit/>
          </a:bodyPr>
          <a:lstStyle/>
          <a:p>
            <a:pPr algn="l">
              <a:lnSpc>
                <a:spcPct val="115000"/>
              </a:lnSpc>
              <a:spcAft>
                <a:spcPts val="0"/>
              </a:spcAft>
            </a:pPr>
            <a:r>
              <a:rPr sz="1150" b="0" i="0">
                <a:solidFill>
                  <a:srgbClr val="1E2633"/>
                </a:solidFill>
                <a:latin typeface="Calibri"/>
              </a:rPr>
              <a:t>Das Image postgres:latest war nicht kompatibel mit unserer Umgebung und führte zu Startproblemen des Containers.</a:t>
            </a:r>
          </a:p>
        </p:txBody>
      </p:sp>
      <p:sp>
        <p:nvSpPr>
          <p:cNvPr id="16" name="TextBox 15"/>
          <p:cNvSpPr txBox="1"/>
          <p:nvPr/>
        </p:nvSpPr>
        <p:spPr>
          <a:xfrm>
            <a:off x="6446520" y="4526280"/>
            <a:ext cx="4663440" cy="320040"/>
          </a:xfrm>
          <a:prstGeom prst="rect">
            <a:avLst/>
          </a:prstGeom>
          <a:noFill/>
        </p:spPr>
        <p:txBody>
          <a:bodyPr wrap="square" anchor="t" lIns="0" rIns="0" tIns="0" bIns="0">
            <a:spAutoFit/>
          </a:bodyPr>
          <a:lstStyle/>
          <a:p>
            <a:pPr algn="l">
              <a:lnSpc>
                <a:spcPct val="100000"/>
              </a:lnSpc>
              <a:spcAft>
                <a:spcPts val="0"/>
              </a:spcAft>
            </a:pPr>
            <a:r>
              <a:rPr sz="1050" b="1" i="0">
                <a:solidFill>
                  <a:srgbClr val="1F8A5E"/>
                </a:solidFill>
                <a:latin typeface="Calibri"/>
              </a:rPr>
              <a:t>LÖSUNG</a:t>
            </a:r>
          </a:p>
        </p:txBody>
      </p:sp>
      <p:sp>
        <p:nvSpPr>
          <p:cNvPr id="17" name="TextBox 16"/>
          <p:cNvSpPr txBox="1"/>
          <p:nvPr/>
        </p:nvSpPr>
        <p:spPr>
          <a:xfrm>
            <a:off x="6446520" y="4800600"/>
            <a:ext cx="4663440" cy="868680"/>
          </a:xfrm>
          <a:prstGeom prst="rect">
            <a:avLst/>
          </a:prstGeom>
          <a:noFill/>
        </p:spPr>
        <p:txBody>
          <a:bodyPr wrap="square" anchor="t" lIns="0" rIns="0" tIns="0" bIns="0">
            <a:spAutoFit/>
          </a:bodyPr>
          <a:lstStyle/>
          <a:p>
            <a:pPr algn="l">
              <a:lnSpc>
                <a:spcPct val="115000"/>
              </a:lnSpc>
              <a:spcAft>
                <a:spcPts val="0"/>
              </a:spcAft>
            </a:pPr>
            <a:r>
              <a:rPr sz="1150" b="0" i="0">
                <a:solidFill>
                  <a:srgbClr val="1E2633"/>
                </a:solidFill>
                <a:latin typeface="Calibri"/>
              </a:rPr>
              <a:t>Wechsel auf die fixe Version postgres:16, wodurch der Container stabil und reproduzierbar lief.</a:t>
            </a:r>
          </a:p>
        </p:txBody>
      </p:sp>
      <p:sp>
        <p:nvSpPr>
          <p:cNvPr id="18" name="TextBox 17"/>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65A82"/>
                </a:solidFill>
                <a:latin typeface="Calibri"/>
              </a:rPr>
              <a:t>REFLEXION</a:t>
            </a:r>
          </a:p>
        </p:txBody>
      </p:sp>
      <p:sp>
        <p:nvSpPr>
          <p:cNvPr id="3" name="TextBox 2"/>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21295C"/>
                </a:solidFill>
                <a:latin typeface="Calibri"/>
              </a:rPr>
              <a:t>Lessons Learned</a:t>
            </a:r>
          </a:p>
        </p:txBody>
      </p:sp>
      <p:sp>
        <p:nvSpPr>
          <p:cNvPr id="4" name="Rounded Rectangle 3"/>
          <p:cNvSpPr/>
          <p:nvPr/>
        </p:nvSpPr>
        <p:spPr>
          <a:xfrm>
            <a:off x="640080" y="1783080"/>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9659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6" name="TextBox 5"/>
          <p:cNvSpPr txBox="1"/>
          <p:nvPr/>
        </p:nvSpPr>
        <p:spPr>
          <a:xfrm>
            <a:off x="822959" y="2560320"/>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Docker vertieft</a:t>
            </a:r>
          </a:p>
        </p:txBody>
      </p:sp>
      <p:sp>
        <p:nvSpPr>
          <p:cNvPr id="7" name="TextBox 6"/>
          <p:cNvSpPr txBox="1"/>
          <p:nvPr/>
        </p:nvSpPr>
        <p:spPr>
          <a:xfrm>
            <a:off x="822959" y="2862072"/>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Container, Volumes und Netzwerke besser verstanden</a:t>
            </a:r>
          </a:p>
        </p:txBody>
      </p:sp>
      <p:sp>
        <p:nvSpPr>
          <p:cNvPr id="8" name="Rounded Rectangle 7"/>
          <p:cNvSpPr/>
          <p:nvPr/>
        </p:nvSpPr>
        <p:spPr>
          <a:xfrm>
            <a:off x="4352544" y="1783080"/>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35424" y="19659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0" name="TextBox 9"/>
          <p:cNvSpPr txBox="1"/>
          <p:nvPr/>
        </p:nvSpPr>
        <p:spPr>
          <a:xfrm>
            <a:off x="4535424" y="2560320"/>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PostgreSQL kennengelernt</a:t>
            </a:r>
          </a:p>
        </p:txBody>
      </p:sp>
      <p:sp>
        <p:nvSpPr>
          <p:cNvPr id="11" name="TextBox 10"/>
          <p:cNvSpPr txBox="1"/>
          <p:nvPr/>
        </p:nvSpPr>
        <p:spPr>
          <a:xfrm>
            <a:off x="4535424" y="2862072"/>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Unterschiede zu MariaDB und dessen Verwaltung gelernt</a:t>
            </a:r>
          </a:p>
        </p:txBody>
      </p:sp>
      <p:sp>
        <p:nvSpPr>
          <p:cNvPr id="12" name="Rounded Rectangle 11"/>
          <p:cNvSpPr/>
          <p:nvPr/>
        </p:nvSpPr>
        <p:spPr>
          <a:xfrm>
            <a:off x="8065007" y="1783080"/>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47887" y="196596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4" name="TextBox 13"/>
          <p:cNvSpPr txBox="1"/>
          <p:nvPr/>
        </p:nvSpPr>
        <p:spPr>
          <a:xfrm>
            <a:off x="8247887" y="2560320"/>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pgloader angewendet</a:t>
            </a:r>
          </a:p>
        </p:txBody>
      </p:sp>
      <p:sp>
        <p:nvSpPr>
          <p:cNvPr id="15" name="TextBox 14"/>
          <p:cNvSpPr txBox="1"/>
          <p:nvPr/>
        </p:nvSpPr>
        <p:spPr>
          <a:xfrm>
            <a:off x="8247887" y="2862072"/>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Praktische Erfahrung mit dem Migrationstool gesammelt</a:t>
            </a:r>
          </a:p>
        </p:txBody>
      </p:sp>
      <p:sp>
        <p:nvSpPr>
          <p:cNvPr id="16" name="Rounded Rectangle 15"/>
          <p:cNvSpPr/>
          <p:nvPr/>
        </p:nvSpPr>
        <p:spPr>
          <a:xfrm>
            <a:off x="640080" y="3456432"/>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3639312"/>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8" name="TextBox 17"/>
          <p:cNvSpPr txBox="1"/>
          <p:nvPr/>
        </p:nvSpPr>
        <p:spPr>
          <a:xfrm>
            <a:off x="822959" y="4233672"/>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Fehleranalyse verbessert</a:t>
            </a:r>
          </a:p>
        </p:txBody>
      </p:sp>
      <p:sp>
        <p:nvSpPr>
          <p:cNvPr id="19" name="TextBox 18"/>
          <p:cNvSpPr txBox="1"/>
          <p:nvPr/>
        </p:nvSpPr>
        <p:spPr>
          <a:xfrm>
            <a:off x="822959" y="4535424"/>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Verbindungs- und Portprobleme systematisch untersucht</a:t>
            </a:r>
          </a:p>
        </p:txBody>
      </p:sp>
      <p:sp>
        <p:nvSpPr>
          <p:cNvPr id="20" name="Rounded Rectangle 19"/>
          <p:cNvSpPr/>
          <p:nvPr/>
        </p:nvSpPr>
        <p:spPr>
          <a:xfrm>
            <a:off x="4352544" y="3456432"/>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35424" y="3639312"/>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2" name="TextBox 21"/>
          <p:cNvSpPr txBox="1"/>
          <p:nvPr/>
        </p:nvSpPr>
        <p:spPr>
          <a:xfrm>
            <a:off x="4535424" y="4233672"/>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Bedeutung von Tests erkannt</a:t>
            </a:r>
          </a:p>
        </p:txBody>
      </p:sp>
      <p:sp>
        <p:nvSpPr>
          <p:cNvPr id="23" name="TextBox 22"/>
          <p:cNvSpPr txBox="1"/>
          <p:nvPr/>
        </p:nvSpPr>
        <p:spPr>
          <a:xfrm>
            <a:off x="4535424" y="4535424"/>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Datenvalidierung als zentraler Projektschritt</a:t>
            </a:r>
          </a:p>
        </p:txBody>
      </p:sp>
      <p:sp>
        <p:nvSpPr>
          <p:cNvPr id="24" name="Rounded Rectangle 23"/>
          <p:cNvSpPr/>
          <p:nvPr/>
        </p:nvSpPr>
        <p:spPr>
          <a:xfrm>
            <a:off x="8065007" y="3456432"/>
            <a:ext cx="3456432" cy="1417320"/>
          </a:xfrm>
          <a:prstGeom prst="roundRect">
            <a:avLst>
              <a:gd name="adj" fmla="val 8000"/>
            </a:avLst>
          </a:prstGeom>
          <a:solidFill>
            <a:srgbClr val="F4F7FA"/>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47887" y="3639312"/>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6" name="TextBox 25"/>
          <p:cNvSpPr txBox="1"/>
          <p:nvPr/>
        </p:nvSpPr>
        <p:spPr>
          <a:xfrm>
            <a:off x="8247887" y="4233672"/>
            <a:ext cx="3090672"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295C"/>
                </a:solidFill>
                <a:latin typeface="Calibri"/>
              </a:rPr>
              <a:t>Dokumentation gestärkt</a:t>
            </a:r>
          </a:p>
        </p:txBody>
      </p:sp>
      <p:sp>
        <p:nvSpPr>
          <p:cNvPr id="27" name="TextBox 26"/>
          <p:cNvSpPr txBox="1"/>
          <p:nvPr/>
        </p:nvSpPr>
        <p:spPr>
          <a:xfrm>
            <a:off x="8247887" y="4535424"/>
            <a:ext cx="3090672" cy="365760"/>
          </a:xfrm>
          <a:prstGeom prst="rect">
            <a:avLst/>
          </a:prstGeom>
          <a:noFill/>
        </p:spPr>
        <p:txBody>
          <a:bodyPr wrap="square" anchor="t" lIns="0" rIns="0" tIns="0" bIns="0">
            <a:spAutoFit/>
          </a:bodyPr>
          <a:lstStyle/>
          <a:p>
            <a:pPr algn="l">
              <a:lnSpc>
                <a:spcPct val="105000"/>
              </a:lnSpc>
              <a:spcAft>
                <a:spcPts val="0"/>
              </a:spcAft>
            </a:pPr>
            <a:r>
              <a:rPr sz="1050" b="0" i="0">
                <a:solidFill>
                  <a:srgbClr val="5B6B7C"/>
                </a:solidFill>
                <a:latin typeface="Calibri"/>
              </a:rPr>
              <a:t>Technische Schritte strukturiert festgehalten</a:t>
            </a:r>
          </a:p>
        </p:txBody>
      </p:sp>
      <p:sp>
        <p:nvSpPr>
          <p:cNvPr id="28" name="Rounded Rectangle 27"/>
          <p:cNvSpPr/>
          <p:nvPr/>
        </p:nvSpPr>
        <p:spPr>
          <a:xfrm>
            <a:off x="640080" y="5349240"/>
            <a:ext cx="10881360" cy="868680"/>
          </a:xfrm>
          <a:prstGeom prst="roundRect">
            <a:avLst>
              <a:gd name="adj" fmla="val 10000"/>
            </a:avLst>
          </a:prstGeom>
          <a:solidFill>
            <a:srgbClr val="21295C"/>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486400"/>
            <a:ext cx="2377440" cy="548640"/>
          </a:xfrm>
          <a:prstGeom prst="rect">
            <a:avLst/>
          </a:prstGeom>
          <a:noFill/>
        </p:spPr>
        <p:txBody>
          <a:bodyPr wrap="square" anchor="ctr" lIns="0" rIns="0" tIns="0" bIns="0">
            <a:spAutoFit/>
          </a:bodyPr>
          <a:lstStyle/>
          <a:p>
            <a:pPr algn="l">
              <a:lnSpc>
                <a:spcPct val="100000"/>
              </a:lnSpc>
              <a:spcAft>
                <a:spcPts val="0"/>
              </a:spcAft>
            </a:pPr>
            <a:r>
              <a:rPr sz="1100" b="1" i="0">
                <a:solidFill>
                  <a:srgbClr val="02C39A"/>
                </a:solidFill>
                <a:latin typeface="Calibri"/>
              </a:rPr>
              <a:t>ANDERS MACHEN</a:t>
            </a:r>
          </a:p>
        </p:txBody>
      </p:sp>
      <p:sp>
        <p:nvSpPr>
          <p:cNvPr id="30" name="TextBox 29"/>
          <p:cNvSpPr txBox="1"/>
          <p:nvPr/>
        </p:nvSpPr>
        <p:spPr>
          <a:xfrm>
            <a:off x="3200400" y="5486400"/>
            <a:ext cx="8046720" cy="594360"/>
          </a:xfrm>
          <a:prstGeom prst="rect">
            <a:avLst/>
          </a:prstGeom>
          <a:noFill/>
        </p:spPr>
        <p:txBody>
          <a:bodyPr wrap="square" anchor="ctr" lIns="0" rIns="0" tIns="0" bIns="0">
            <a:spAutoFit/>
          </a:bodyPr>
          <a:lstStyle/>
          <a:p>
            <a:pPr algn="l">
              <a:lnSpc>
                <a:spcPct val="100000"/>
              </a:lnSpc>
              <a:spcAft>
                <a:spcPts val="0"/>
              </a:spcAft>
            </a:pPr>
            <a:r>
              <a:rPr sz="1250" b="0" i="0">
                <a:solidFill>
                  <a:srgbClr val="FFFFFF"/>
                </a:solidFill>
                <a:latin typeface="Calibri"/>
              </a:rPr>
              <a:t>Früher Parallelbetrieb zur Risikominimierung prüfen · mehr automatisierte statt manuelle Tests</a:t>
            </a:r>
          </a:p>
        </p:txBody>
      </p:sp>
      <p:sp>
        <p:nvSpPr>
          <p:cNvPr id="31" name="TextBox 30"/>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B6B7C"/>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Oval 1"/>
          <p:cNvSpPr/>
          <p:nvPr/>
        </p:nvSpPr>
        <p:spPr>
          <a:xfrm>
            <a:off x="-1828800" y="3840480"/>
            <a:ext cx="4572000" cy="4572000"/>
          </a:xfrm>
          <a:prstGeom prst="ellipse">
            <a:avLst/>
          </a:prstGeom>
          <a:solidFill>
            <a:srgbClr val="1C7293">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2C39A"/>
                </a:solidFill>
                <a:latin typeface="Calibri"/>
              </a:rPr>
              <a:t>ÜBERLEITUNG</a:t>
            </a:r>
          </a:p>
        </p:txBody>
      </p:sp>
      <p:sp>
        <p:nvSpPr>
          <p:cNvPr id="4" name="TextBox 3"/>
          <p:cNvSpPr txBox="1"/>
          <p:nvPr/>
        </p:nvSpPr>
        <p:spPr>
          <a:xfrm>
            <a:off x="640080" y="777240"/>
            <a:ext cx="10515600" cy="82296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Calibri"/>
              </a:rPr>
              <a:t>Jetzt live: Die Migration in Aktion</a:t>
            </a:r>
          </a:p>
        </p:txBody>
      </p:sp>
      <p:sp>
        <p:nvSpPr>
          <p:cNvPr id="5" name="TextBox 4"/>
          <p:cNvSpPr txBox="1"/>
          <p:nvPr/>
        </p:nvSpPr>
        <p:spPr>
          <a:xfrm>
            <a:off x="640080" y="1600200"/>
            <a:ext cx="9144000" cy="457200"/>
          </a:xfrm>
          <a:prstGeom prst="rect">
            <a:avLst/>
          </a:prstGeom>
          <a:noFill/>
        </p:spPr>
        <p:txBody>
          <a:bodyPr wrap="square" anchor="t" lIns="0" rIns="0" tIns="0" bIns="0">
            <a:spAutoFit/>
          </a:bodyPr>
          <a:lstStyle/>
          <a:p>
            <a:pPr algn="l">
              <a:lnSpc>
                <a:spcPct val="100000"/>
              </a:lnSpc>
              <a:spcAft>
                <a:spcPts val="0"/>
              </a:spcAft>
            </a:pPr>
            <a:r>
              <a:rPr sz="1500" b="0" i="1">
                <a:solidFill>
                  <a:srgbClr val="CADCFC"/>
                </a:solidFill>
                <a:latin typeface="Calibri"/>
              </a:rPr>
              <a:t>Wir zeigen Ihnen jetzt die Migration im betriebsbereiten System.</a:t>
            </a:r>
          </a:p>
        </p:txBody>
      </p:sp>
      <p:sp>
        <p:nvSpPr>
          <p:cNvPr id="6" name="Oval 5"/>
          <p:cNvSpPr/>
          <p:nvPr/>
        </p:nvSpPr>
        <p:spPr>
          <a:xfrm>
            <a:off x="937259" y="2674620"/>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1</a:t>
            </a:r>
          </a:p>
        </p:txBody>
      </p:sp>
      <p:sp>
        <p:nvSpPr>
          <p:cNvPr id="7" name="TextBox 6"/>
          <p:cNvSpPr txBox="1"/>
          <p:nvPr/>
        </p:nvSpPr>
        <p:spPr>
          <a:xfrm>
            <a:off x="1691640" y="2651760"/>
            <a:ext cx="4389120" cy="32004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Quelldatenbank MariaDB</a:t>
            </a:r>
          </a:p>
        </p:txBody>
      </p:sp>
      <p:sp>
        <p:nvSpPr>
          <p:cNvPr id="8" name="TextBox 7"/>
          <p:cNvSpPr txBox="1"/>
          <p:nvPr/>
        </p:nvSpPr>
        <p:spPr>
          <a:xfrm>
            <a:off x="1691640" y="2980944"/>
            <a:ext cx="438912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Bestehende Daten und Struktur ansehen</a:t>
            </a:r>
          </a:p>
        </p:txBody>
      </p:sp>
      <p:sp>
        <p:nvSpPr>
          <p:cNvPr id="9" name="Oval 8"/>
          <p:cNvSpPr/>
          <p:nvPr/>
        </p:nvSpPr>
        <p:spPr>
          <a:xfrm>
            <a:off x="937259" y="3543299"/>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2</a:t>
            </a:r>
          </a:p>
        </p:txBody>
      </p:sp>
      <p:sp>
        <p:nvSpPr>
          <p:cNvPr id="10" name="TextBox 9"/>
          <p:cNvSpPr txBox="1"/>
          <p:nvPr/>
        </p:nvSpPr>
        <p:spPr>
          <a:xfrm>
            <a:off x="1691640" y="3520439"/>
            <a:ext cx="4389120" cy="32004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Migration mit pgloader</a:t>
            </a:r>
          </a:p>
        </p:txBody>
      </p:sp>
      <p:sp>
        <p:nvSpPr>
          <p:cNvPr id="11" name="TextBox 10"/>
          <p:cNvSpPr txBox="1"/>
          <p:nvPr/>
        </p:nvSpPr>
        <p:spPr>
          <a:xfrm>
            <a:off x="1691640" y="3849624"/>
            <a:ext cx="438912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Datenkonvertierung live ausführen</a:t>
            </a:r>
          </a:p>
        </p:txBody>
      </p:sp>
      <p:sp>
        <p:nvSpPr>
          <p:cNvPr id="12" name="Oval 11"/>
          <p:cNvSpPr/>
          <p:nvPr/>
        </p:nvSpPr>
        <p:spPr>
          <a:xfrm>
            <a:off x="937259" y="4411979"/>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3</a:t>
            </a:r>
          </a:p>
        </p:txBody>
      </p:sp>
      <p:sp>
        <p:nvSpPr>
          <p:cNvPr id="13" name="TextBox 12"/>
          <p:cNvSpPr txBox="1"/>
          <p:nvPr/>
        </p:nvSpPr>
        <p:spPr>
          <a:xfrm>
            <a:off x="1691640" y="4389120"/>
            <a:ext cx="4389120" cy="32004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Zieldatenbank PostgreSQL</a:t>
            </a:r>
          </a:p>
        </p:txBody>
      </p:sp>
      <p:sp>
        <p:nvSpPr>
          <p:cNvPr id="14" name="TextBox 13"/>
          <p:cNvSpPr txBox="1"/>
          <p:nvPr/>
        </p:nvSpPr>
        <p:spPr>
          <a:xfrm>
            <a:off x="1691640" y="4718304"/>
            <a:ext cx="438912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Migrierte Tabellen und Daten prüfen</a:t>
            </a:r>
          </a:p>
        </p:txBody>
      </p:sp>
      <p:sp>
        <p:nvSpPr>
          <p:cNvPr id="15" name="Oval 14"/>
          <p:cNvSpPr/>
          <p:nvPr/>
        </p:nvSpPr>
        <p:spPr>
          <a:xfrm>
            <a:off x="937259" y="5280659"/>
            <a:ext cx="502920" cy="502920"/>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1295C"/>
                </a:solidFill>
                <a:latin typeface="Calibri"/>
              </a:rPr>
              <a:t>4</a:t>
            </a:r>
          </a:p>
        </p:txBody>
      </p:sp>
      <p:sp>
        <p:nvSpPr>
          <p:cNvPr id="16" name="TextBox 15"/>
          <p:cNvSpPr txBox="1"/>
          <p:nvPr/>
        </p:nvSpPr>
        <p:spPr>
          <a:xfrm>
            <a:off x="1691640" y="5257800"/>
            <a:ext cx="4389120" cy="32004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Datenvergleich</a:t>
            </a:r>
          </a:p>
        </p:txBody>
      </p:sp>
      <p:sp>
        <p:nvSpPr>
          <p:cNvPr id="17" name="TextBox 16"/>
          <p:cNvSpPr txBox="1"/>
          <p:nvPr/>
        </p:nvSpPr>
        <p:spPr>
          <a:xfrm>
            <a:off x="1691640" y="5586984"/>
            <a:ext cx="438912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Vorher / Nachher gegenüberstellen</a:t>
            </a:r>
          </a:p>
        </p:txBody>
      </p:sp>
      <p:sp>
        <p:nvSpPr>
          <p:cNvPr id="18" name="Rounded Rectangle 17"/>
          <p:cNvSpPr/>
          <p:nvPr/>
        </p:nvSpPr>
        <p:spPr>
          <a:xfrm>
            <a:off x="6766560" y="2651760"/>
            <a:ext cx="4754880" cy="3291840"/>
          </a:xfrm>
          <a:prstGeom prst="roundRect">
            <a:avLst>
              <a:gd name="adj" fmla="val 6000"/>
            </a:avLst>
          </a:prstGeom>
          <a:solidFill>
            <a:srgbClr val="1C7293"/>
          </a:solidFill>
          <a:ln>
            <a:noFill/>
          </a:ln>
          <a:effectLst/>
          <a:effectLst>
            <a:outerShdw blurRad="90000" dist="300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2880360"/>
            <a:ext cx="4206240" cy="365760"/>
          </a:xfrm>
          <a:prstGeom prst="rect">
            <a:avLst/>
          </a:prstGeom>
          <a:noFill/>
        </p:spPr>
        <p:txBody>
          <a:bodyPr wrap="square" anchor="t" lIns="0" rIns="0" tIns="0" bIns="0">
            <a:spAutoFit/>
          </a:bodyPr>
          <a:lstStyle/>
          <a:p>
            <a:pPr algn="l">
              <a:lnSpc>
                <a:spcPct val="100000"/>
              </a:lnSpc>
              <a:spcAft>
                <a:spcPts val="0"/>
              </a:spcAft>
            </a:pPr>
            <a:r>
              <a:rPr sz="1200" b="1" i="0">
                <a:solidFill>
                  <a:srgbClr val="02C39A"/>
                </a:solidFill>
                <a:latin typeface="Calibri"/>
              </a:rPr>
              <a:t>Dauer</a:t>
            </a:r>
          </a:p>
        </p:txBody>
      </p:sp>
      <p:sp>
        <p:nvSpPr>
          <p:cNvPr id="20" name="TextBox 19"/>
          <p:cNvSpPr txBox="1"/>
          <p:nvPr/>
        </p:nvSpPr>
        <p:spPr>
          <a:xfrm>
            <a:off x="7086600" y="3200400"/>
            <a:ext cx="4206240" cy="548640"/>
          </a:xfrm>
          <a:prstGeom prst="rect">
            <a:avLst/>
          </a:prstGeom>
          <a:noFill/>
        </p:spPr>
        <p:txBody>
          <a:bodyPr wrap="square" anchor="t" lIns="0" rIns="0" tIns="0" bIns="0">
            <a:spAutoFit/>
          </a:bodyPr>
          <a:lstStyle/>
          <a:p>
            <a:pPr algn="l">
              <a:lnSpc>
                <a:spcPct val="100000"/>
              </a:lnSpc>
              <a:spcAft>
                <a:spcPts val="0"/>
              </a:spcAft>
            </a:pPr>
            <a:r>
              <a:rPr sz="2200" b="1" i="0">
                <a:solidFill>
                  <a:srgbClr val="FFFFFF"/>
                </a:solidFill>
                <a:latin typeface="Calibri"/>
              </a:rPr>
              <a:t>ca. 10 Minuten</a:t>
            </a:r>
          </a:p>
        </p:txBody>
      </p:sp>
      <p:sp>
        <p:nvSpPr>
          <p:cNvPr id="21" name="TextBox 20"/>
          <p:cNvSpPr txBox="1"/>
          <p:nvPr/>
        </p:nvSpPr>
        <p:spPr>
          <a:xfrm>
            <a:off x="7086600" y="3931920"/>
            <a:ext cx="4206240" cy="365760"/>
          </a:xfrm>
          <a:prstGeom prst="rect">
            <a:avLst/>
          </a:prstGeom>
          <a:noFill/>
        </p:spPr>
        <p:txBody>
          <a:bodyPr wrap="square" anchor="t" lIns="0" rIns="0" tIns="0" bIns="0">
            <a:spAutoFit/>
          </a:bodyPr>
          <a:lstStyle/>
          <a:p>
            <a:pPr algn="l">
              <a:lnSpc>
                <a:spcPct val="100000"/>
              </a:lnSpc>
              <a:spcAft>
                <a:spcPts val="0"/>
              </a:spcAft>
            </a:pPr>
            <a:r>
              <a:rPr sz="1200" b="1" i="0">
                <a:solidFill>
                  <a:srgbClr val="02C39A"/>
                </a:solidFill>
                <a:latin typeface="Calibri"/>
              </a:rPr>
              <a:t>Voraussetzung</a:t>
            </a:r>
          </a:p>
        </p:txBody>
      </p:sp>
      <p:sp>
        <p:nvSpPr>
          <p:cNvPr id="22" name="TextBox 21"/>
          <p:cNvSpPr txBox="1"/>
          <p:nvPr/>
        </p:nvSpPr>
        <p:spPr>
          <a:xfrm>
            <a:off x="7086600" y="4251960"/>
            <a:ext cx="4206240" cy="822960"/>
          </a:xfrm>
          <a:prstGeom prst="rect">
            <a:avLst/>
          </a:prstGeom>
          <a:noFill/>
        </p:spPr>
        <p:txBody>
          <a:bodyPr wrap="square" anchor="t" lIns="0" rIns="0" tIns="0" bIns="0">
            <a:spAutoFit/>
          </a:bodyPr>
          <a:lstStyle/>
          <a:p>
            <a:pPr algn="l">
              <a:lnSpc>
                <a:spcPct val="120000"/>
              </a:lnSpc>
              <a:spcAft>
                <a:spcPts val="0"/>
              </a:spcAft>
            </a:pPr>
            <a:r>
              <a:rPr sz="1350" b="0" i="0">
                <a:solidFill>
                  <a:srgbClr val="FFFFFF"/>
                </a:solidFill>
                <a:latin typeface="Calibri"/>
              </a:rPr>
              <a:t>System im Abgabezustand, betriebsbereit</a:t>
            </a:r>
          </a:p>
        </p:txBody>
      </p:sp>
      <p:sp>
        <p:nvSpPr>
          <p:cNvPr id="23" name="TextBox 22"/>
          <p:cNvSpPr txBox="1"/>
          <p:nvPr/>
        </p:nvSpPr>
        <p:spPr>
          <a:xfrm>
            <a:off x="1147572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FFFFFF"/>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Oval 1"/>
          <p:cNvSpPr/>
          <p:nvPr/>
        </p:nvSpPr>
        <p:spPr>
          <a:xfrm>
            <a:off x="8869680" y="-1645920"/>
            <a:ext cx="5029200" cy="5029200"/>
          </a:xfrm>
          <a:prstGeom prst="ellipse">
            <a:avLst/>
          </a:prstGeom>
          <a:solidFill>
            <a:srgbClr val="02C39A">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9144000" cy="914400"/>
          </a:xfrm>
          <a:prstGeom prst="rect">
            <a:avLst/>
          </a:prstGeom>
          <a:noFill/>
        </p:spPr>
        <p:txBody>
          <a:bodyPr wrap="square" anchor="t" lIns="0" rIns="0" tIns="0" bIns="0">
            <a:spAutoFit/>
          </a:bodyPr>
          <a:lstStyle/>
          <a:p>
            <a:pPr algn="l">
              <a:lnSpc>
                <a:spcPct val="100000"/>
              </a:lnSpc>
              <a:spcAft>
                <a:spcPts val="0"/>
              </a:spcAft>
            </a:pPr>
            <a:r>
              <a:rPr sz="3400" b="1" i="0">
                <a:solidFill>
                  <a:srgbClr val="FFFFFF"/>
                </a:solidFill>
                <a:latin typeface="Calibri"/>
              </a:rPr>
              <a:t>Vielen Dank für Ihre Aufmerksamkeit</a:t>
            </a:r>
          </a:p>
        </p:txBody>
      </p:sp>
      <p:sp>
        <p:nvSpPr>
          <p:cNvPr id="4" name="TextBox 3"/>
          <p:cNvSpPr txBox="1"/>
          <p:nvPr/>
        </p:nvSpPr>
        <p:spPr>
          <a:xfrm>
            <a:off x="822960" y="3246120"/>
            <a:ext cx="8686800" cy="548640"/>
          </a:xfrm>
          <a:prstGeom prst="rect">
            <a:avLst/>
          </a:prstGeom>
          <a:noFill/>
        </p:spPr>
        <p:txBody>
          <a:bodyPr wrap="square" anchor="t" lIns="0" rIns="0" tIns="0" bIns="0">
            <a:spAutoFit/>
          </a:bodyPr>
          <a:lstStyle/>
          <a:p>
            <a:pPr algn="l">
              <a:lnSpc>
                <a:spcPct val="100000"/>
              </a:lnSpc>
              <a:spcAft>
                <a:spcPts val="0"/>
              </a:spcAft>
            </a:pPr>
            <a:r>
              <a:rPr sz="1800" b="0" i="1">
                <a:solidFill>
                  <a:srgbClr val="CADCFC"/>
                </a:solidFill>
                <a:latin typeface="Calibri"/>
              </a:rPr>
              <a:t>Wir freuen uns auf Ihre Fragen</a:t>
            </a:r>
          </a:p>
        </p:txBody>
      </p:sp>
      <p:sp>
        <p:nvSpPr>
          <p:cNvPr id="5" name="Rectangle 4"/>
          <p:cNvSpPr/>
          <p:nvPr/>
        </p:nvSpPr>
        <p:spPr>
          <a:xfrm>
            <a:off x="822960" y="4206240"/>
            <a:ext cx="4937760" cy="182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434840"/>
            <a:ext cx="54864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02C39A"/>
                </a:solidFill>
                <a:latin typeface="Calibri"/>
              </a:rPr>
              <a:t>TEAM</a:t>
            </a:r>
          </a:p>
        </p:txBody>
      </p:sp>
      <p:sp>
        <p:nvSpPr>
          <p:cNvPr id="7" name="TextBox 6"/>
          <p:cNvSpPr txBox="1"/>
          <p:nvPr/>
        </p:nvSpPr>
        <p:spPr>
          <a:xfrm>
            <a:off x="822960" y="4709160"/>
            <a:ext cx="6400800" cy="411480"/>
          </a:xfrm>
          <a:prstGeom prst="rect">
            <a:avLst/>
          </a:prstGeom>
          <a:noFill/>
        </p:spPr>
        <p:txBody>
          <a:bodyPr wrap="square" anchor="t" lIns="0" rIns="0" tIns="0" bIns="0">
            <a:spAutoFit/>
          </a:bodyPr>
          <a:lstStyle/>
          <a:p>
            <a:pPr algn="l">
              <a:lnSpc>
                <a:spcPct val="100000"/>
              </a:lnSpc>
              <a:spcAft>
                <a:spcPts val="0"/>
              </a:spcAft>
            </a:pPr>
            <a:r>
              <a:rPr sz="1700" b="1" i="0">
                <a:solidFill>
                  <a:srgbClr val="FFFFFF"/>
                </a:solidFill>
                <a:latin typeface="Calibri"/>
              </a:rPr>
              <a:t>Aidan Hanson  ·  Fynn Tschäppät</a:t>
            </a:r>
          </a:p>
        </p:txBody>
      </p:sp>
      <p:sp>
        <p:nvSpPr>
          <p:cNvPr id="8" name="TextBox 7"/>
          <p:cNvSpPr txBox="1"/>
          <p:nvPr/>
        </p:nvSpPr>
        <p:spPr>
          <a:xfrm>
            <a:off x="822960" y="5257800"/>
            <a:ext cx="5486400" cy="320040"/>
          </a:xfrm>
          <a:prstGeom prst="rect">
            <a:avLst/>
          </a:prstGeom>
          <a:noFill/>
        </p:spPr>
        <p:txBody>
          <a:bodyPr wrap="square" anchor="t" lIns="0" rIns="0" tIns="0" bIns="0">
            <a:spAutoFit/>
          </a:bodyPr>
          <a:lstStyle/>
          <a:p>
            <a:pPr algn="l">
              <a:lnSpc>
                <a:spcPct val="100000"/>
              </a:lnSpc>
              <a:spcAft>
                <a:spcPts val="0"/>
              </a:spcAft>
            </a:pPr>
            <a:r>
              <a:rPr sz="1100" b="1" i="0">
                <a:solidFill>
                  <a:srgbClr val="02C39A"/>
                </a:solidFill>
                <a:latin typeface="Calibri"/>
              </a:rPr>
              <a:t>MODUL / KLASSE</a:t>
            </a:r>
          </a:p>
        </p:txBody>
      </p:sp>
      <p:sp>
        <p:nvSpPr>
          <p:cNvPr id="9" name="TextBox 8"/>
          <p:cNvSpPr txBox="1"/>
          <p:nvPr/>
        </p:nvSpPr>
        <p:spPr>
          <a:xfrm>
            <a:off x="822960" y="5532120"/>
            <a:ext cx="5486400" cy="36576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Modul 158 – Inf2024d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